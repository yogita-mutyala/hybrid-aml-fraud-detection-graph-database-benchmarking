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6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17" userDrawn="1">
          <p15:clr>
            <a:srgbClr val="A4A3A4"/>
          </p15:clr>
        </p15:guide>
        <p15:guide id="2" orient="horz" pos="61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1"/>
    <p:restoredTop sz="94610"/>
  </p:normalViewPr>
  <p:slideViewPr>
    <p:cSldViewPr snapToGrid="0" snapToObjects="1">
      <p:cViewPr>
        <p:scale>
          <a:sx n="158" d="100"/>
          <a:sy n="158" d="100"/>
        </p:scale>
        <p:origin x="104" y="-896"/>
      </p:cViewPr>
      <p:guideLst>
        <p:guide pos="3817"/>
        <p:guide orient="horz" pos="61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Planning median (ms)</c:v>
                </c:pt>
              </c:strCache>
            </c:strRef>
          </c:tx>
          <c:spPr>
            <a:solidFill>
              <a:srgbClr val="990000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Smurf SQL</c:v>
                </c:pt>
                <c:pt idx="1">
                  <c:v>Smurf AGE</c:v>
                </c:pt>
                <c:pt idx="2">
                  <c:v>Cycle SQL</c:v>
                </c:pt>
                <c:pt idx="3">
                  <c:v>Cycle Cypher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1.097</c:v>
                </c:pt>
                <c:pt idx="1">
                  <c:v>1.96</c:v>
                </c:pt>
                <c:pt idx="2">
                  <c:v>0.33200000000000002</c:v>
                </c:pt>
                <c:pt idx="3">
                  <c:v>2.0209999999999999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95-8A40-8CBC-46D518865F6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Execution median (ms)</c:v>
                </c:pt>
              </c:strCache>
            </c:strRef>
          </c:tx>
          <c:spPr>
            <a:solidFill>
              <a:srgbClr val="CCA300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Smurf SQL</c:v>
                </c:pt>
                <c:pt idx="1">
                  <c:v>Smurf AGE</c:v>
                </c:pt>
                <c:pt idx="2">
                  <c:v>Cycle SQL</c:v>
                </c:pt>
                <c:pt idx="3">
                  <c:v>Cycle Cypher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0.443</c:v>
                </c:pt>
                <c:pt idx="1">
                  <c:v>2.5030000000000001</c:v>
                </c:pt>
                <c:pt idx="2">
                  <c:v>1.3029999999999999</c:v>
                </c:pt>
                <c:pt idx="3">
                  <c:v>2.722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F95-8A40-8CBC-46D518865F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A4A4A"/>
                </a:solidFill>
                <a:latin typeface="Arial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.2"/>
          <c:min val="0"/>
        </c:scaling>
        <c:delete val="0"/>
        <c:axPos val="l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4A4A4A"/>
                    </a:solidFill>
                    <a:latin typeface="Arial"/>
                  </a:defRPr>
                </a:pPr>
                <a:r>
                  <a:rPr lang="en" sz="800" b="0" i="0" u="none" strike="noStrike">
                    <a:solidFill>
                      <a:srgbClr val="4A4A4A"/>
                    </a:solidFill>
                    <a:latin typeface="Arial"/>
                  </a:rPr>
                  <a:t>Milliseconds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20" b="0" i="0" u="none" strike="noStrike">
                <a:solidFill>
                  <a:srgbClr val="4A4A4A"/>
                </a:solidFill>
                <a:latin typeface="Arial"/>
              </a:defRPr>
            </a:pPr>
            <a:endParaRPr lang="ko-KR"/>
          </a:p>
        </c:txPr>
        <c:crossAx val="2094734554"/>
        <c:crosses val="autoZero"/>
        <c:crossBetween val="between"/>
      </c:valAx>
      <c:spPr>
        <a:solidFill>
          <a:srgbClr val="FFFFFF"/>
        </a:solidFill>
        <a:ln w="10160" cap="flat">
          <a:solidFill>
            <a:srgbClr val="D9D9D9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750">
              <a:solidFill>
                <a:srgbClr val="4A4A4A"/>
              </a:solidFill>
              <a:latin typeface="Arial"/>
              <a:cs typeface="Arial"/>
            </a:defRPr>
          </a:pPr>
          <a:endParaRPr lang="ko-KR"/>
        </a:p>
      </c:txPr>
    </c:legend>
    <c:plotVisOnly val="1"/>
    <c:dispBlanksAs val="span"/>
    <c:showDLblsOverMax val="1"/>
  </c:chart>
  <c:spPr>
    <a:solidFill>
      <a:srgbClr val="FFFFFF"/>
    </a:solidFill>
    <a:ln w="10160" cap="flat">
      <a:solidFill>
        <a:srgbClr val="D9D9D9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1388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B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868680"/>
            <a:ext cx="1234440" cy="45720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6035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Hybrid AML Fraud Detection in PostgreSQL + Apache AGE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49808" y="2697480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statement, graph rationale, storage architecture, query execution, and EXPLAIN-based performance analysis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12700">
            <a:solidFill>
              <a:srgbClr val="B3B3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30352" y="6473952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README.md; docs/reports/detection_rules_pseudocode.md; docs/reports/cycle_benchmark_summary.md.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10835640" y="645566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7818120" y="1078992"/>
            <a:ext cx="3621024" cy="3822192"/>
          </a:xfrm>
          <a:prstGeom prst="roundRect">
            <a:avLst>
              <a:gd name="adj" fmla="val 1515"/>
            </a:avLst>
          </a:prstGeom>
          <a:solidFill>
            <a:srgbClr val="9900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982712" y="124358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FF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SNAPSHOT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7982712" y="1554480"/>
            <a:ext cx="3291840" cy="566928"/>
          </a:xfrm>
          <a:prstGeom prst="rect">
            <a:avLst/>
          </a:prstGeom>
          <a:solidFill>
            <a:srgbClr val="6B0000"/>
          </a:solidFill>
          <a:ln w="12700">
            <a:solidFill>
              <a:srgbClr val="CCA3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074152" y="16276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CC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208008" y="1682496"/>
            <a:ext cx="1901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PostgreSQL + AGE stack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7982712" y="2304288"/>
            <a:ext cx="3291840" cy="566928"/>
          </a:xfrm>
          <a:prstGeom prst="rect">
            <a:avLst/>
          </a:prstGeom>
          <a:solidFill>
            <a:srgbClr val="6B0000"/>
          </a:solidFill>
          <a:ln w="12700">
            <a:solidFill>
              <a:srgbClr val="CCA3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074152" y="23774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CC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208008" y="2432304"/>
            <a:ext cx="1901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slides in the demo flow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7982712" y="3054096"/>
            <a:ext cx="3291840" cy="566928"/>
          </a:xfrm>
          <a:prstGeom prst="rect">
            <a:avLst/>
          </a:prstGeom>
          <a:solidFill>
            <a:srgbClr val="6B0000"/>
          </a:solidFill>
          <a:ln w="12700">
            <a:solidFill>
              <a:srgbClr val="CCA3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074152" y="31272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CC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208008" y="3182112"/>
            <a:ext cx="1901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areas: storage + execution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7982712" y="3803904"/>
            <a:ext cx="3291840" cy="566928"/>
          </a:xfrm>
          <a:prstGeom prst="rect">
            <a:avLst/>
          </a:prstGeom>
          <a:solidFill>
            <a:srgbClr val="6B0000"/>
          </a:solidFill>
          <a:ln w="12700">
            <a:solidFill>
              <a:srgbClr val="CCA3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8074152" y="38770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CC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+ 3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208008" y="3931920"/>
            <a:ext cx="1901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operations + appendix backups</a:t>
            </a:r>
            <a:endParaRPr lang="en-US" sz="860" dirty="0"/>
          </a:p>
        </p:txBody>
      </p:sp>
      <p:sp>
        <p:nvSpPr>
          <p:cNvPr id="22" name="Text 20"/>
          <p:cNvSpPr/>
          <p:nvPr/>
        </p:nvSpPr>
        <p:spPr>
          <a:xfrm>
            <a:off x="749808" y="3566160"/>
            <a:ext cx="6400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demo asks whether one relational system can keep AML data authoritative in PostgreSQL while still supporting graph-style fraud analysis through Apache AGE.</a:t>
            </a:r>
            <a:endParaRPr lang="en-US" sz="1180" dirty="0"/>
          </a:p>
        </p:txBody>
      </p:sp>
      <p:sp>
        <p:nvSpPr>
          <p:cNvPr id="23" name="Shape 21"/>
          <p:cNvSpPr/>
          <p:nvPr/>
        </p:nvSpPr>
        <p:spPr>
          <a:xfrm>
            <a:off x="749808" y="4882896"/>
            <a:ext cx="5852160" cy="786384"/>
          </a:xfrm>
          <a:prstGeom prst="rect">
            <a:avLst/>
          </a:prstGeom>
          <a:solidFill>
            <a:srgbClr val="990000"/>
          </a:solidFill>
          <a:ln w="12700">
            <a:solidFill>
              <a:srgbClr val="CCA3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932688" y="506577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lens: compare relational SQL and Cypher on the same Hybrid AML dataset, then explain the performance gap through storage design and execution plans.</a:t>
            </a:r>
            <a:endParaRPr lang="en-US" sz="97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10927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deck directly covers the Phase 3 demo rubric from application behavior to database internals.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revised flow makes the demo requirements explicit before the two query paths.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2677363" cy="402336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57784" y="1152144"/>
            <a:ext cx="25676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Rubric item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3180283" y="1078992"/>
            <a:ext cx="4350715" cy="402336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235147" y="1152144"/>
            <a:ext cx="42409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covered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7530998" y="1078992"/>
            <a:ext cx="4127602" cy="402336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585862" y="1152144"/>
            <a:ext cx="40178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Deck evidence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502920" y="1481328"/>
            <a:ext cx="2677363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57784" y="1536192"/>
            <a:ext cx="25676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major application operations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180283" y="1481328"/>
            <a:ext cx="4350715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235147" y="1536192"/>
            <a:ext cx="424098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9 to 10 for smurfing and Slides 12 to 13 for circular trading.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7530998" y="1481328"/>
            <a:ext cx="4127602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585862" y="1536192"/>
            <a:ext cx="40178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operation gets one application slide and one EXPLAIN analysis slide.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02920" y="2093976"/>
            <a:ext cx="2677363" cy="61264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57784" y="2148840"/>
            <a:ext cx="25676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of system focus areas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180283" y="2093976"/>
            <a:ext cx="4350715" cy="61264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3235147" y="2148840"/>
            <a:ext cx="424098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8 and 11 are dedicated concept slides.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530998" y="2093976"/>
            <a:ext cx="4127602" cy="61264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585862" y="2148840"/>
            <a:ext cx="40178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Architecture and Query Execution each get their own richer explanation.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02920" y="2706624"/>
            <a:ext cx="2677363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57784" y="2761488"/>
            <a:ext cx="25676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application does / what the database does internally / why it matters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180283" y="2706624"/>
            <a:ext cx="4350715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3235147" y="2761488"/>
            <a:ext cx="424098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9 and 12 use those exact three prompts.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530998" y="2706624"/>
            <a:ext cx="4127602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7585862" y="2761488"/>
            <a:ext cx="40178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rubric wording is visible in the slide titles inside each operation panel.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02920" y="3319272"/>
            <a:ext cx="2677363" cy="61264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557784" y="3374136"/>
            <a:ext cx="25676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Runnable evidence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180283" y="3319272"/>
            <a:ext cx="4350715" cy="61264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3235147" y="3374136"/>
            <a:ext cx="424098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6 plus Appendix A1 and A2.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7530998" y="3319272"/>
            <a:ext cx="4127602" cy="61264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7585862" y="3374136"/>
            <a:ext cx="40178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Code, schema, dataset, and instructions to run are mapped to repo paths.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502920" y="3931920"/>
            <a:ext cx="2677363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557784" y="3986784"/>
            <a:ext cx="25676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explanation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180283" y="3931920"/>
            <a:ext cx="4350715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3235147" y="3986784"/>
            <a:ext cx="424098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10, 11, 13, and 14.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7530998" y="3931920"/>
            <a:ext cx="4127602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7585862" y="3986784"/>
            <a:ext cx="40178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operator summaries and planning/execution medians show why SQL is faster here.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02920" y="4736592"/>
            <a:ext cx="11155680" cy="585216"/>
          </a:xfrm>
          <a:prstGeom prst="roundRect">
            <a:avLst>
              <a:gd name="adj" fmla="val 9375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612648" y="4841931"/>
            <a:ext cx="2569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2100" dirty="0"/>
          </a:p>
        </p:txBody>
      </p:sp>
      <p:sp>
        <p:nvSpPr>
          <p:cNvPr id="43" name="Text 41"/>
          <p:cNvSpPr/>
          <p:nvPr/>
        </p:nvSpPr>
        <p:spPr>
          <a:xfrm>
            <a:off x="612648" y="5193792"/>
            <a:ext cx="25694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slides</a:t>
            </a:r>
            <a:endParaRPr lang="en-US" sz="760" dirty="0"/>
          </a:p>
        </p:txBody>
      </p:sp>
      <p:sp>
        <p:nvSpPr>
          <p:cNvPr id="44" name="Shape 42"/>
          <p:cNvSpPr/>
          <p:nvPr/>
        </p:nvSpPr>
        <p:spPr>
          <a:xfrm>
            <a:off x="3291840" y="4828032"/>
            <a:ext cx="0" cy="402336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3401568" y="4841931"/>
            <a:ext cx="2569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3401568" y="5193792"/>
            <a:ext cx="25694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slides</a:t>
            </a:r>
            <a:endParaRPr lang="en-US" sz="760" dirty="0"/>
          </a:p>
        </p:txBody>
      </p:sp>
      <p:sp>
        <p:nvSpPr>
          <p:cNvPr id="47" name="Shape 45"/>
          <p:cNvSpPr/>
          <p:nvPr/>
        </p:nvSpPr>
        <p:spPr>
          <a:xfrm>
            <a:off x="6080760" y="4828032"/>
            <a:ext cx="0" cy="402336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6190488" y="4841931"/>
            <a:ext cx="2569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100" dirty="0"/>
          </a:p>
        </p:txBody>
      </p:sp>
      <p:sp>
        <p:nvSpPr>
          <p:cNvPr id="49" name="Text 47"/>
          <p:cNvSpPr/>
          <p:nvPr/>
        </p:nvSpPr>
        <p:spPr>
          <a:xfrm>
            <a:off x="6190488" y="5193792"/>
            <a:ext cx="25694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operations</a:t>
            </a:r>
            <a:endParaRPr lang="en-US" sz="760" dirty="0"/>
          </a:p>
        </p:txBody>
      </p:sp>
      <p:sp>
        <p:nvSpPr>
          <p:cNvPr id="50" name="Shape 48"/>
          <p:cNvSpPr/>
          <p:nvPr/>
        </p:nvSpPr>
        <p:spPr>
          <a:xfrm>
            <a:off x="8869680" y="4828032"/>
            <a:ext cx="0" cy="402336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8979408" y="4841931"/>
            <a:ext cx="2569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8979408" y="5193792"/>
            <a:ext cx="25694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areas</a:t>
            </a:r>
            <a:endParaRPr lang="en-US" sz="760" dirty="0"/>
          </a:p>
        </p:txBody>
      </p:sp>
      <p:sp>
        <p:nvSpPr>
          <p:cNvPr id="53" name="Shape 51"/>
          <p:cNvSpPr/>
          <p:nvPr/>
        </p:nvSpPr>
        <p:spPr>
          <a:xfrm>
            <a:off x="502920" y="5468112"/>
            <a:ext cx="111556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/>
          <p:nvPr/>
        </p:nvSpPr>
        <p:spPr>
          <a:xfrm>
            <a:off x="612648" y="5577840"/>
            <a:ext cx="10936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DECK LOGIC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612648" y="5797296"/>
            <a:ext cx="10936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required demo element now maps to an explicit main slide or appendix artifact.</a:t>
            </a:r>
            <a:endParaRPr lang="en-US" sz="830" dirty="0"/>
          </a:p>
        </p:txBody>
      </p:sp>
      <p:sp>
        <p:nvSpPr>
          <p:cNvPr id="56" name="Shape 54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530352" y="6473952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docs/guidelines/551_project_guideline_sp26.pdf; README.md; docs/reports/detection_rules_pseudocode.md.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10835640" y="645566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10927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AML monitoring is not just reporting over rows; it is also analysis over connected transaction networks.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statement and research question both come from that dual structure.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024128"/>
            <a:ext cx="3529584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30936" y="1133856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30936" y="1426464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AML data starts as transactional rows, but suspicious behavior appears across multiple accounts and transfers.</a:t>
            </a:r>
            <a:endParaRPr lang="en-US" sz="775" dirty="0"/>
          </a:p>
        </p:txBody>
      </p:sp>
      <p:sp>
        <p:nvSpPr>
          <p:cNvPr id="8" name="Text 6"/>
          <p:cNvSpPr/>
          <p:nvPr/>
        </p:nvSpPr>
        <p:spPr>
          <a:xfrm>
            <a:off x="630936" y="1691640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simple reporting-only view can miss how money moves through networks of related entities.</a:t>
            </a:r>
            <a:endParaRPr lang="en-US" sz="775" dirty="0"/>
          </a:p>
        </p:txBody>
      </p:sp>
      <p:sp>
        <p:nvSpPr>
          <p:cNvPr id="9" name="Shape 7"/>
          <p:cNvSpPr/>
          <p:nvPr/>
        </p:nvSpPr>
        <p:spPr>
          <a:xfrm>
            <a:off x="4315968" y="1024128"/>
            <a:ext cx="3529584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443984" y="1133856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question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443984" y="1426464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PostgreSQL + Apache AGE support both relational AML queries and graph-style path analysis on one shared dataset?</a:t>
            </a:r>
            <a:endParaRPr lang="en-US" sz="775" dirty="0"/>
          </a:p>
        </p:txBody>
      </p:sp>
      <p:sp>
        <p:nvSpPr>
          <p:cNvPr id="12" name="Text 10"/>
          <p:cNvSpPr/>
          <p:nvPr/>
        </p:nvSpPr>
        <p:spPr>
          <a:xfrm>
            <a:off x="4443984" y="1691640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yes, where do the performance costs actually come from?</a:t>
            </a:r>
            <a:endParaRPr lang="en-US" sz="775" dirty="0"/>
          </a:p>
        </p:txBody>
      </p:sp>
      <p:sp>
        <p:nvSpPr>
          <p:cNvPr id="13" name="Shape 11"/>
          <p:cNvSpPr/>
          <p:nvPr/>
        </p:nvSpPr>
        <p:spPr>
          <a:xfrm>
            <a:off x="8129016" y="1024128"/>
            <a:ext cx="3529584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257032" y="1133856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evaluate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57032" y="1426464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Correctness of the two query paths on the same labeled scenarios.</a:t>
            </a:r>
            <a:endParaRPr lang="en-US" sz="775" dirty="0"/>
          </a:p>
        </p:txBody>
      </p:sp>
      <p:sp>
        <p:nvSpPr>
          <p:cNvPr id="16" name="Text 14"/>
          <p:cNvSpPr/>
          <p:nvPr/>
        </p:nvSpPr>
        <p:spPr>
          <a:xfrm>
            <a:off x="8257032" y="1691640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design, execution plans, planning time, and execution time.</a:t>
            </a:r>
            <a:endParaRPr lang="en-US" sz="775" dirty="0"/>
          </a:p>
        </p:txBody>
      </p:sp>
      <p:sp>
        <p:nvSpPr>
          <p:cNvPr id="17" name="Shape 15"/>
          <p:cNvSpPr/>
          <p:nvPr/>
        </p:nvSpPr>
        <p:spPr>
          <a:xfrm>
            <a:off x="502920" y="2834640"/>
            <a:ext cx="3529584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30936" y="2944368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 side of AML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30936" y="3236976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Customers, accounts, and transaction logs need trusted ACID storage, joins, filters, and repeatable setup.</a:t>
            </a:r>
            <a:endParaRPr lang="en-US" sz="775" dirty="0"/>
          </a:p>
        </p:txBody>
      </p:sp>
      <p:sp>
        <p:nvSpPr>
          <p:cNvPr id="20" name="Text 18"/>
          <p:cNvSpPr/>
          <p:nvPr/>
        </p:nvSpPr>
        <p:spPr>
          <a:xfrm>
            <a:off x="630936" y="3502152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source of truth is still relational.</a:t>
            </a:r>
            <a:endParaRPr lang="en-US" sz="775" dirty="0"/>
          </a:p>
        </p:txBody>
      </p:sp>
      <p:sp>
        <p:nvSpPr>
          <p:cNvPr id="21" name="Shape 19"/>
          <p:cNvSpPr/>
          <p:nvPr/>
        </p:nvSpPr>
        <p:spPr>
          <a:xfrm>
            <a:off x="4315968" y="2834640"/>
            <a:ext cx="3529584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443984" y="2944368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side of AML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443984" y="3236976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Suspicious flows create paths, rings, fan-in funnels, and link analysis questions over account relationships.</a:t>
            </a:r>
            <a:endParaRPr lang="en-US" sz="775" dirty="0"/>
          </a:p>
        </p:txBody>
      </p:sp>
      <p:sp>
        <p:nvSpPr>
          <p:cNvPr id="24" name="Text 22"/>
          <p:cNvSpPr/>
          <p:nvPr/>
        </p:nvSpPr>
        <p:spPr>
          <a:xfrm>
            <a:off x="4443984" y="3502152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data behaves like a network.</a:t>
            </a:r>
            <a:endParaRPr lang="en-US" sz="775" dirty="0"/>
          </a:p>
        </p:txBody>
      </p:sp>
      <p:sp>
        <p:nvSpPr>
          <p:cNvPr id="25" name="Shape 23"/>
          <p:cNvSpPr/>
          <p:nvPr/>
        </p:nvSpPr>
        <p:spPr>
          <a:xfrm>
            <a:off x="8129016" y="2834640"/>
            <a:ext cx="3529584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8257032" y="2944368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hypothesis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57032" y="3236976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graph layer inside PostgreSQL may preserve one-stack simplicity while still expressing graph-shaped AML rules.</a:t>
            </a:r>
            <a:endParaRPr lang="en-US" sz="775" dirty="0"/>
          </a:p>
        </p:txBody>
      </p:sp>
      <p:sp>
        <p:nvSpPr>
          <p:cNvPr id="28" name="Text 26"/>
          <p:cNvSpPr/>
          <p:nvPr/>
        </p:nvSpPr>
        <p:spPr>
          <a:xfrm>
            <a:off x="8257032" y="3502152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tradeoff should appear in EXPLAIN output and runtime medians.</a:t>
            </a:r>
            <a:endParaRPr lang="en-US" sz="775" dirty="0"/>
          </a:p>
        </p:txBody>
      </p:sp>
      <p:sp>
        <p:nvSpPr>
          <p:cNvPr id="29" name="Shape 27"/>
          <p:cNvSpPr/>
          <p:nvPr/>
        </p:nvSpPr>
        <p:spPr>
          <a:xfrm>
            <a:off x="502920" y="4736592"/>
            <a:ext cx="11155680" cy="566928"/>
          </a:xfrm>
          <a:prstGeom prst="roundRect">
            <a:avLst>
              <a:gd name="adj" fmla="val 9677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12648" y="4838639"/>
            <a:ext cx="2569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Rows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12648" y="5175504"/>
            <a:ext cx="25694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trusted records</a:t>
            </a:r>
            <a:endParaRPr lang="en-US" sz="760" dirty="0"/>
          </a:p>
        </p:txBody>
      </p:sp>
      <p:sp>
        <p:nvSpPr>
          <p:cNvPr id="32" name="Shape 30"/>
          <p:cNvSpPr/>
          <p:nvPr/>
        </p:nvSpPr>
        <p:spPr>
          <a:xfrm>
            <a:off x="3291840" y="4828032"/>
            <a:ext cx="0" cy="384048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3401568" y="4838639"/>
            <a:ext cx="2569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Paths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3401568" y="5175504"/>
            <a:ext cx="25694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movement chains</a:t>
            </a:r>
            <a:endParaRPr lang="en-US" sz="760" dirty="0"/>
          </a:p>
        </p:txBody>
      </p:sp>
      <p:sp>
        <p:nvSpPr>
          <p:cNvPr id="35" name="Shape 33"/>
          <p:cNvSpPr/>
          <p:nvPr/>
        </p:nvSpPr>
        <p:spPr>
          <a:xfrm>
            <a:off x="6080760" y="4828032"/>
            <a:ext cx="0" cy="384048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6190488" y="4838639"/>
            <a:ext cx="2569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Loops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6190488" y="5175504"/>
            <a:ext cx="25694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 patterns</a:t>
            </a:r>
            <a:endParaRPr lang="en-US" sz="760" dirty="0"/>
          </a:p>
        </p:txBody>
      </p:sp>
      <p:sp>
        <p:nvSpPr>
          <p:cNvPr id="38" name="Shape 36"/>
          <p:cNvSpPr/>
          <p:nvPr/>
        </p:nvSpPr>
        <p:spPr>
          <a:xfrm>
            <a:off x="8869680" y="4828032"/>
            <a:ext cx="0" cy="384048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8979408" y="4838639"/>
            <a:ext cx="2569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Links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8979408" y="5175504"/>
            <a:ext cx="25694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relationships</a:t>
            </a:r>
            <a:endParaRPr lang="en-US" sz="760" dirty="0"/>
          </a:p>
        </p:txBody>
      </p:sp>
      <p:sp>
        <p:nvSpPr>
          <p:cNvPr id="41" name="Shape 39"/>
          <p:cNvSpPr/>
          <p:nvPr/>
        </p:nvSpPr>
        <p:spPr>
          <a:xfrm>
            <a:off x="502920" y="5440680"/>
            <a:ext cx="111556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612648" y="5550408"/>
            <a:ext cx="10936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MESSAGE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12648" y="5769864"/>
            <a:ext cx="10936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AML data has a dual nature: rows for trusted records, graphs for suspicious movement patterns.</a:t>
            </a:r>
            <a:endParaRPr lang="en-US" sz="830" dirty="0"/>
          </a:p>
        </p:txBody>
      </p:sp>
      <p:sp>
        <p:nvSpPr>
          <p:cNvPr id="44" name="Shape 42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530352" y="6473952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docs/proposal/Phase 1_ Project Proposal.pdf; README.md; docs/reports/Phase2_MidtermReport_ChanyoungKim_YogitaMutyala.pdf.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10835640" y="645566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10927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graph analysis matters in AML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AML workloads often ask who is connected to whom, through which path, and within which time window.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269748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30936" y="1170432"/>
            <a:ext cx="2441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Many-hop transaction chains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30936" y="1463040"/>
            <a:ext cx="2441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Funds can move through several accounts before reaching a suspicious destination.</a:t>
            </a:r>
            <a:endParaRPr lang="en-US" sz="755" dirty="0"/>
          </a:p>
        </p:txBody>
      </p:sp>
      <p:sp>
        <p:nvSpPr>
          <p:cNvPr id="8" name="Text 6"/>
          <p:cNvSpPr/>
          <p:nvPr/>
        </p:nvSpPr>
        <p:spPr>
          <a:xfrm>
            <a:off x="630936" y="1728216"/>
            <a:ext cx="2441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is naturally a path problem, not a single-row problem.</a:t>
            </a:r>
            <a:endParaRPr lang="en-US" sz="755" dirty="0"/>
          </a:p>
        </p:txBody>
      </p:sp>
      <p:sp>
        <p:nvSpPr>
          <p:cNvPr id="9" name="Shape 7"/>
          <p:cNvSpPr/>
          <p:nvPr/>
        </p:nvSpPr>
        <p:spPr>
          <a:xfrm>
            <a:off x="3319272" y="1060704"/>
            <a:ext cx="269748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447288" y="1170432"/>
            <a:ext cx="2441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Circular trading rings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447288" y="1463040"/>
            <a:ext cx="2441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-&gt; B -&gt; C -&gt; A loops are defined by ordered edges across distinct accounts.</a:t>
            </a:r>
            <a:endParaRPr lang="en-US" sz="755" dirty="0"/>
          </a:p>
        </p:txBody>
      </p:sp>
      <p:sp>
        <p:nvSpPr>
          <p:cNvPr id="12" name="Text 10"/>
          <p:cNvSpPr/>
          <p:nvPr/>
        </p:nvSpPr>
        <p:spPr>
          <a:xfrm>
            <a:off x="3447288" y="1728216"/>
            <a:ext cx="2441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suspicious signal lives in the cycle.</a:t>
            </a:r>
            <a:endParaRPr lang="en-US" sz="755" dirty="0"/>
          </a:p>
        </p:txBody>
      </p:sp>
      <p:sp>
        <p:nvSpPr>
          <p:cNvPr id="13" name="Shape 11"/>
          <p:cNvSpPr/>
          <p:nvPr/>
        </p:nvSpPr>
        <p:spPr>
          <a:xfrm>
            <a:off x="6135624" y="1060704"/>
            <a:ext cx="269748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263640" y="1170432"/>
            <a:ext cx="2441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Fan-in and fan-out flows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263640" y="1463040"/>
            <a:ext cx="2441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Smurfing and layering both create unusual concentration or dispersion patterns.</a:t>
            </a:r>
            <a:endParaRPr lang="en-US" sz="755" dirty="0"/>
          </a:p>
        </p:txBody>
      </p:sp>
      <p:sp>
        <p:nvSpPr>
          <p:cNvPr id="16" name="Text 14"/>
          <p:cNvSpPr/>
          <p:nvPr/>
        </p:nvSpPr>
        <p:spPr>
          <a:xfrm>
            <a:off x="6263640" y="1728216"/>
            <a:ext cx="2441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network shapes over transfers.</a:t>
            </a:r>
            <a:endParaRPr lang="en-US" sz="755" dirty="0"/>
          </a:p>
        </p:txBody>
      </p:sp>
      <p:sp>
        <p:nvSpPr>
          <p:cNvPr id="17" name="Shape 15"/>
          <p:cNvSpPr/>
          <p:nvPr/>
        </p:nvSpPr>
        <p:spPr>
          <a:xfrm>
            <a:off x="8951976" y="1060704"/>
            <a:ext cx="269748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9079992" y="1170432"/>
            <a:ext cx="2441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 entities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079992" y="1463040"/>
            <a:ext cx="2441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Shell accounts, shared controllers, and related parties create relationship-first investigations.</a:t>
            </a:r>
            <a:endParaRPr lang="en-US" sz="755" dirty="0"/>
          </a:p>
        </p:txBody>
      </p:sp>
      <p:sp>
        <p:nvSpPr>
          <p:cNvPr id="20" name="Text 18"/>
          <p:cNvSpPr/>
          <p:nvPr/>
        </p:nvSpPr>
        <p:spPr>
          <a:xfrm>
            <a:off x="9079992" y="1728216"/>
            <a:ext cx="2441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linkage extends beyond one table join.</a:t>
            </a:r>
            <a:endParaRPr lang="en-US" sz="755" dirty="0"/>
          </a:p>
        </p:txBody>
      </p:sp>
      <p:sp>
        <p:nvSpPr>
          <p:cNvPr id="21" name="Shape 19"/>
          <p:cNvSpPr/>
          <p:nvPr/>
        </p:nvSpPr>
        <p:spPr>
          <a:xfrm>
            <a:off x="502920" y="2834640"/>
            <a:ext cx="2677363" cy="402336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57784" y="2907792"/>
            <a:ext cx="25676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AML pattern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3180283" y="2834640"/>
            <a:ext cx="4685386" cy="402336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3235147" y="2907792"/>
            <a:ext cx="45756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graph-style reasoning fits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7865669" y="2834640"/>
            <a:ext cx="3792931" cy="402336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7920533" y="2907792"/>
            <a:ext cx="36832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connection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502920" y="3236976"/>
            <a:ext cx="2677363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557784" y="3291840"/>
            <a:ext cx="2567635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transaction networks</a:t>
            </a:r>
            <a:endParaRPr lang="en-US" sz="755" dirty="0"/>
          </a:p>
        </p:txBody>
      </p:sp>
      <p:sp>
        <p:nvSpPr>
          <p:cNvPr id="29" name="Shape 27"/>
          <p:cNvSpPr/>
          <p:nvPr/>
        </p:nvSpPr>
        <p:spPr>
          <a:xfrm>
            <a:off x="3180283" y="3236976"/>
            <a:ext cx="4685386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3235147" y="3291840"/>
            <a:ext cx="457565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Accounts become nodes and transfers become edges, so suspicious chains become traversals.</a:t>
            </a:r>
            <a:endParaRPr lang="en-US" sz="755" dirty="0"/>
          </a:p>
        </p:txBody>
      </p:sp>
      <p:sp>
        <p:nvSpPr>
          <p:cNvPr id="31" name="Shape 29"/>
          <p:cNvSpPr/>
          <p:nvPr/>
        </p:nvSpPr>
        <p:spPr>
          <a:xfrm>
            <a:off x="7865669" y="3236976"/>
            <a:ext cx="3792931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7920533" y="3291840"/>
            <a:ext cx="3683203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circular trading rule operates directly on a transfer network.</a:t>
            </a:r>
            <a:endParaRPr lang="en-US" sz="755" dirty="0"/>
          </a:p>
        </p:txBody>
      </p:sp>
      <p:sp>
        <p:nvSpPr>
          <p:cNvPr id="33" name="Shape 31"/>
          <p:cNvSpPr/>
          <p:nvPr/>
        </p:nvSpPr>
        <p:spPr>
          <a:xfrm>
            <a:off x="502920" y="3813048"/>
            <a:ext cx="2677363" cy="576072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557784" y="3867912"/>
            <a:ext cx="2567635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Relationship-first reasoning</a:t>
            </a:r>
            <a:endParaRPr lang="en-US" sz="755" dirty="0"/>
          </a:p>
        </p:txBody>
      </p:sp>
      <p:sp>
        <p:nvSpPr>
          <p:cNvPr id="35" name="Shape 33"/>
          <p:cNvSpPr/>
          <p:nvPr/>
        </p:nvSpPr>
        <p:spPr>
          <a:xfrm>
            <a:off x="3180283" y="3813048"/>
            <a:ext cx="4685386" cy="576072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3235147" y="3867912"/>
            <a:ext cx="457565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Investigators care about paths, neighborhoods, and repeating motifs rather than isolated facts.</a:t>
            </a:r>
            <a:endParaRPr lang="en-US" sz="755" dirty="0"/>
          </a:p>
        </p:txBody>
      </p:sp>
      <p:sp>
        <p:nvSpPr>
          <p:cNvPr id="37" name="Shape 35"/>
          <p:cNvSpPr/>
          <p:nvPr/>
        </p:nvSpPr>
        <p:spPr>
          <a:xfrm>
            <a:off x="7865669" y="3813048"/>
            <a:ext cx="3792931" cy="576072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7920533" y="3867912"/>
            <a:ext cx="3683203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tuned graph keeps only transfer edges to focus that reasoning.</a:t>
            </a:r>
            <a:endParaRPr lang="en-US" sz="755" dirty="0"/>
          </a:p>
        </p:txBody>
      </p:sp>
      <p:sp>
        <p:nvSpPr>
          <p:cNvPr id="39" name="Shape 37"/>
          <p:cNvSpPr/>
          <p:nvPr/>
        </p:nvSpPr>
        <p:spPr>
          <a:xfrm>
            <a:off x="502920" y="4389120"/>
            <a:ext cx="2677363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557784" y="4443984"/>
            <a:ext cx="2567635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chains at scale</a:t>
            </a:r>
            <a:endParaRPr lang="en-US" sz="755" dirty="0"/>
          </a:p>
        </p:txBody>
      </p:sp>
      <p:sp>
        <p:nvSpPr>
          <p:cNvPr id="41" name="Shape 39"/>
          <p:cNvSpPr/>
          <p:nvPr/>
        </p:nvSpPr>
        <p:spPr>
          <a:xfrm>
            <a:off x="3180283" y="4389120"/>
            <a:ext cx="4685386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3235147" y="4443984"/>
            <a:ext cx="457565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AML graph references highlight long chains and related-entity discovery as common fraud tasks.</a:t>
            </a:r>
            <a:endParaRPr lang="en-US" sz="755" dirty="0"/>
          </a:p>
        </p:txBody>
      </p:sp>
      <p:sp>
        <p:nvSpPr>
          <p:cNvPr id="43" name="Shape 41"/>
          <p:cNvSpPr/>
          <p:nvPr/>
        </p:nvSpPr>
        <p:spPr>
          <a:xfrm>
            <a:off x="7865669" y="4389120"/>
            <a:ext cx="3792931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7920533" y="4443984"/>
            <a:ext cx="3683203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use those ideas as motivation, then benchmark them on one stack.</a:t>
            </a:r>
            <a:endParaRPr lang="en-US" sz="755" dirty="0"/>
          </a:p>
        </p:txBody>
      </p:sp>
      <p:sp>
        <p:nvSpPr>
          <p:cNvPr id="45" name="Text 43"/>
          <p:cNvSpPr/>
          <p:nvPr/>
        </p:nvSpPr>
        <p:spPr>
          <a:xfrm>
            <a:off x="530352" y="5522976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AML takeaway: AML data is row-based and relationship-based at the same time, so graph-style traversal is operationally natural.</a:t>
            </a:r>
            <a:endParaRPr lang="en-US" sz="740" dirty="0"/>
          </a:p>
        </p:txBody>
      </p:sp>
      <p:sp>
        <p:nvSpPr>
          <p:cNvPr id="46" name="Shape 44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530352" y="6473952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AWS Architecture Blog, Financial Crime Discovery Using Amazon EKS and Graph Databases; Deloitte, Knowledge Graphs for Financial Services (2024); project proposal rationale.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10835640" y="645566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10927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choose PostgreSQL + Apache 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design choice is relational source of truth plus graph-style analysis in one database stack.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3529584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30936" y="1170432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AML needs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30936" y="1463040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Transactional logs and customer/account data need ACID relational storage.</a:t>
            </a:r>
            <a:endParaRPr lang="en-US" sz="755" dirty="0"/>
          </a:p>
        </p:txBody>
      </p:sp>
      <p:sp>
        <p:nvSpPr>
          <p:cNvPr id="8" name="Text 6"/>
          <p:cNvSpPr/>
          <p:nvPr/>
        </p:nvSpPr>
        <p:spPr>
          <a:xfrm>
            <a:off x="630936" y="1728216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Suspicious patterns such as circular trading require graph-style traversal.</a:t>
            </a:r>
            <a:endParaRPr lang="en-US" sz="755" dirty="0"/>
          </a:p>
        </p:txBody>
      </p:sp>
      <p:sp>
        <p:nvSpPr>
          <p:cNvPr id="9" name="Text 7"/>
          <p:cNvSpPr/>
          <p:nvPr/>
        </p:nvSpPr>
        <p:spPr>
          <a:xfrm>
            <a:off x="630936" y="1993392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demo also needs reproducible loading, filtering, grouping, and benchmarking.</a:t>
            </a:r>
            <a:endParaRPr lang="en-US" sz="755" dirty="0"/>
          </a:p>
        </p:txBody>
      </p:sp>
      <p:sp>
        <p:nvSpPr>
          <p:cNvPr id="10" name="Shape 8"/>
          <p:cNvSpPr/>
          <p:nvPr/>
        </p:nvSpPr>
        <p:spPr>
          <a:xfrm>
            <a:off x="4315968" y="1060704"/>
            <a:ext cx="3529584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443984" y="1170432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PostgreSQL gives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443984" y="1463040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Heap-organized relational tables remain the authoritative store for customers, accounts, and transactions.</a:t>
            </a:r>
            <a:endParaRPr lang="en-US" sz="755" dirty="0"/>
          </a:p>
        </p:txBody>
      </p:sp>
      <p:sp>
        <p:nvSpPr>
          <p:cNvPr id="13" name="Text 11"/>
          <p:cNvSpPr/>
          <p:nvPr/>
        </p:nvSpPr>
        <p:spPr>
          <a:xfrm>
            <a:off x="4443984" y="1728216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Typed columns, indexes, joins, and recursive SQL make the baseline measurable and practical.</a:t>
            </a:r>
            <a:endParaRPr lang="en-US" sz="755" dirty="0"/>
          </a:p>
        </p:txBody>
      </p:sp>
      <p:sp>
        <p:nvSpPr>
          <p:cNvPr id="14" name="Text 12"/>
          <p:cNvSpPr/>
          <p:nvPr/>
        </p:nvSpPr>
        <p:spPr>
          <a:xfrm>
            <a:off x="4443984" y="1993392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engine handles setup scripts and query execution.</a:t>
            </a:r>
            <a:endParaRPr lang="en-US" sz="755" dirty="0"/>
          </a:p>
        </p:txBody>
      </p:sp>
      <p:sp>
        <p:nvSpPr>
          <p:cNvPr id="15" name="Shape 13"/>
          <p:cNvSpPr/>
          <p:nvPr/>
        </p:nvSpPr>
        <p:spPr>
          <a:xfrm>
            <a:off x="8129016" y="1060704"/>
            <a:ext cx="3529584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8257032" y="1170432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AGE adds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57032" y="1463040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AGE brings openCypher into PostgreSQL without moving data to a separate native graph engine.</a:t>
            </a:r>
            <a:endParaRPr lang="en-US" sz="755" dirty="0"/>
          </a:p>
        </p:txBody>
      </p:sp>
      <p:sp>
        <p:nvSpPr>
          <p:cNvPr id="18" name="Text 16"/>
          <p:cNvSpPr/>
          <p:nvPr/>
        </p:nvSpPr>
        <p:spPr>
          <a:xfrm>
            <a:off x="8257032" y="1728216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vertices and TRANSFER edges can be projected from the same relational rows.</a:t>
            </a:r>
            <a:endParaRPr lang="en-US" sz="755" dirty="0"/>
          </a:p>
        </p:txBody>
      </p:sp>
      <p:sp>
        <p:nvSpPr>
          <p:cNvPr id="19" name="Text 17"/>
          <p:cNvSpPr/>
          <p:nvPr/>
        </p:nvSpPr>
        <p:spPr>
          <a:xfrm>
            <a:off x="8257032" y="1993392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+ AGE avoids maintaining separate relational and graph systems.</a:t>
            </a:r>
            <a:endParaRPr lang="en-US" sz="755" dirty="0"/>
          </a:p>
        </p:txBody>
      </p:sp>
      <p:sp>
        <p:nvSpPr>
          <p:cNvPr id="20" name="Shape 18"/>
          <p:cNvSpPr/>
          <p:nvPr/>
        </p:nvSpPr>
        <p:spPr>
          <a:xfrm>
            <a:off x="502920" y="3246120"/>
            <a:ext cx="3346704" cy="402336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57784" y="3319272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choice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3849624" y="3246120"/>
            <a:ext cx="7808976" cy="402336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3904488" y="3319272"/>
            <a:ext cx="7699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502920" y="3648456"/>
            <a:ext cx="3346704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57784" y="3703320"/>
            <a:ext cx="3236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authoritative store</a:t>
            </a:r>
            <a:endParaRPr lang="en-US" sz="760" dirty="0"/>
          </a:p>
        </p:txBody>
      </p:sp>
      <p:sp>
        <p:nvSpPr>
          <p:cNvPr id="26" name="Shape 24"/>
          <p:cNvSpPr/>
          <p:nvPr/>
        </p:nvSpPr>
        <p:spPr>
          <a:xfrm>
            <a:off x="3849624" y="3648456"/>
            <a:ext cx="7808976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3904488" y="3703320"/>
            <a:ext cx="7699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Transactions, accounts, and customer records stay in PostgreSQL, so data loading and validation stay simple.</a:t>
            </a:r>
            <a:endParaRPr lang="en-US" sz="760" dirty="0"/>
          </a:p>
        </p:txBody>
      </p:sp>
      <p:sp>
        <p:nvSpPr>
          <p:cNvPr id="28" name="Shape 26"/>
          <p:cNvSpPr/>
          <p:nvPr/>
        </p:nvSpPr>
        <p:spPr>
          <a:xfrm>
            <a:off x="502920" y="4261104"/>
            <a:ext cx="3346704" cy="61264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57784" y="4315968"/>
            <a:ext cx="3236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Graph-on-relational extension</a:t>
            </a:r>
            <a:endParaRPr lang="en-US" sz="760" dirty="0"/>
          </a:p>
        </p:txBody>
      </p:sp>
      <p:sp>
        <p:nvSpPr>
          <p:cNvPr id="30" name="Shape 28"/>
          <p:cNvSpPr/>
          <p:nvPr/>
        </p:nvSpPr>
        <p:spPr>
          <a:xfrm>
            <a:off x="3849624" y="4261104"/>
            <a:ext cx="7808976" cy="61264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3904488" y="4315968"/>
            <a:ext cx="7699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adds graph projection and Cypher syntax while keeping the same physical database environment.</a:t>
            </a:r>
            <a:endParaRPr lang="en-US" sz="760" dirty="0"/>
          </a:p>
        </p:txBody>
      </p:sp>
      <p:sp>
        <p:nvSpPr>
          <p:cNvPr id="32" name="Shape 30"/>
          <p:cNvSpPr/>
          <p:nvPr/>
        </p:nvSpPr>
        <p:spPr>
          <a:xfrm>
            <a:off x="502920" y="4873752"/>
            <a:ext cx="3346704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557784" y="4928616"/>
            <a:ext cx="3236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Same-stack comparison</a:t>
            </a:r>
            <a:endParaRPr lang="en-US" sz="760" dirty="0"/>
          </a:p>
        </p:txBody>
      </p:sp>
      <p:sp>
        <p:nvSpPr>
          <p:cNvPr id="34" name="Shape 32"/>
          <p:cNvSpPr/>
          <p:nvPr/>
        </p:nvSpPr>
        <p:spPr>
          <a:xfrm>
            <a:off x="3849624" y="4873752"/>
            <a:ext cx="7808976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3904488" y="4928616"/>
            <a:ext cx="7699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and Cypher can be compared on the same dataset, indexes, machine, and execution engine family.</a:t>
            </a:r>
            <a:endParaRPr lang="en-US" sz="760" dirty="0"/>
          </a:p>
        </p:txBody>
      </p:sp>
      <p:sp>
        <p:nvSpPr>
          <p:cNvPr id="36" name="Shape 34"/>
          <p:cNvSpPr/>
          <p:nvPr/>
        </p:nvSpPr>
        <p:spPr>
          <a:xfrm>
            <a:off x="502920" y="5559552"/>
            <a:ext cx="11155680" cy="530352"/>
          </a:xfrm>
          <a:prstGeom prst="roundRect">
            <a:avLst>
              <a:gd name="adj" fmla="val 10345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612648" y="5655015"/>
            <a:ext cx="2569464" cy="18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ACID</a:t>
            </a:r>
            <a:endParaRPr lang="en-US" sz="2100" dirty="0"/>
          </a:p>
        </p:txBody>
      </p:sp>
      <p:sp>
        <p:nvSpPr>
          <p:cNvPr id="38" name="Text 36"/>
          <p:cNvSpPr/>
          <p:nvPr/>
        </p:nvSpPr>
        <p:spPr>
          <a:xfrm>
            <a:off x="612648" y="5961888"/>
            <a:ext cx="25694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trusted storage</a:t>
            </a:r>
            <a:endParaRPr lang="en-US" sz="760" dirty="0"/>
          </a:p>
        </p:txBody>
      </p:sp>
      <p:sp>
        <p:nvSpPr>
          <p:cNvPr id="39" name="Shape 37"/>
          <p:cNvSpPr/>
          <p:nvPr/>
        </p:nvSpPr>
        <p:spPr>
          <a:xfrm>
            <a:off x="3291840" y="5650992"/>
            <a:ext cx="0" cy="347472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3401568" y="5655015"/>
            <a:ext cx="2569464" cy="18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openCypher</a:t>
            </a:r>
            <a:endParaRPr lang="en-US" sz="2100" dirty="0"/>
          </a:p>
        </p:txBody>
      </p:sp>
      <p:sp>
        <p:nvSpPr>
          <p:cNvPr id="41" name="Text 39"/>
          <p:cNvSpPr/>
          <p:nvPr/>
        </p:nvSpPr>
        <p:spPr>
          <a:xfrm>
            <a:off x="3401568" y="5961888"/>
            <a:ext cx="25694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query layer</a:t>
            </a:r>
            <a:endParaRPr lang="en-US" sz="760" dirty="0"/>
          </a:p>
        </p:txBody>
      </p:sp>
      <p:sp>
        <p:nvSpPr>
          <p:cNvPr id="42" name="Shape 40"/>
          <p:cNvSpPr/>
          <p:nvPr/>
        </p:nvSpPr>
        <p:spPr>
          <a:xfrm>
            <a:off x="6080760" y="5650992"/>
            <a:ext cx="0" cy="347472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6190488" y="5655015"/>
            <a:ext cx="2569464" cy="18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 stack</a:t>
            </a:r>
            <a:endParaRPr lang="en-US" sz="2100" dirty="0"/>
          </a:p>
        </p:txBody>
      </p:sp>
      <p:sp>
        <p:nvSpPr>
          <p:cNvPr id="44" name="Text 42"/>
          <p:cNvSpPr/>
          <p:nvPr/>
        </p:nvSpPr>
        <p:spPr>
          <a:xfrm>
            <a:off x="6190488" y="5961888"/>
            <a:ext cx="25694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split systems</a:t>
            </a:r>
            <a:endParaRPr lang="en-US" sz="760" dirty="0"/>
          </a:p>
        </p:txBody>
      </p:sp>
      <p:sp>
        <p:nvSpPr>
          <p:cNvPr id="45" name="Shape 43"/>
          <p:cNvSpPr/>
          <p:nvPr/>
        </p:nvSpPr>
        <p:spPr>
          <a:xfrm>
            <a:off x="8869680" y="5650992"/>
            <a:ext cx="0" cy="347472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8979408" y="5655015"/>
            <a:ext cx="2569464" cy="18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 dataset</a:t>
            </a:r>
            <a:endParaRPr lang="en-US" sz="2100" dirty="0"/>
          </a:p>
        </p:txBody>
      </p:sp>
      <p:sp>
        <p:nvSpPr>
          <p:cNvPr id="47" name="Text 45"/>
          <p:cNvSpPr/>
          <p:nvPr/>
        </p:nvSpPr>
        <p:spPr>
          <a:xfrm>
            <a:off x="8979408" y="5961888"/>
            <a:ext cx="25694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comparison</a:t>
            </a:r>
            <a:endParaRPr lang="en-US" sz="760" dirty="0"/>
          </a:p>
        </p:txBody>
      </p:sp>
      <p:sp>
        <p:nvSpPr>
          <p:cNvPr id="48" name="Shape 46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530352" y="6473952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docs/proposal/Phase 1_ Project Proposal.pdf; docs/reports/Phase2_MidtermReport_ChanyoungKim_YogitaMutyala.pdf; AWS Architecture Blog; Deloitte 2024 white paper.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10835640" y="645566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10927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repo is already runnable as a demo prototype with dataset, setup scripts, and run instructions.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required artifact for the live demo can be pointed to inside the repository.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201522" cy="402336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57784" y="1152144"/>
            <a:ext cx="10917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1704442" y="1078992"/>
            <a:ext cx="2803550" cy="402336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759306" y="1152144"/>
            <a:ext cx="26938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 evidence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4507992" y="1078992"/>
            <a:ext cx="2670048" cy="402336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562856" y="11521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502920" y="1481328"/>
            <a:ext cx="120152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57784" y="1536192"/>
            <a:ext cx="10917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code</a:t>
            </a:r>
            <a:endParaRPr lang="en-US" sz="745" dirty="0"/>
          </a:p>
        </p:txBody>
      </p:sp>
      <p:sp>
        <p:nvSpPr>
          <p:cNvPr id="13" name="Shape 11"/>
          <p:cNvSpPr/>
          <p:nvPr/>
        </p:nvSpPr>
        <p:spPr>
          <a:xfrm>
            <a:off x="1704442" y="1481328"/>
            <a:ext cx="280355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759306" y="1536192"/>
            <a:ext cx="269382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database/, src/, docs/demo/</a:t>
            </a:r>
            <a:endParaRPr lang="en-US" sz="745" dirty="0"/>
          </a:p>
        </p:txBody>
      </p:sp>
      <p:sp>
        <p:nvSpPr>
          <p:cNvPr id="15" name="Shape 13"/>
          <p:cNvSpPr/>
          <p:nvPr/>
        </p:nvSpPr>
        <p:spPr>
          <a:xfrm>
            <a:off x="4507992" y="1481328"/>
            <a:ext cx="267004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562856" y="1536192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the queries, data generation, and slide/deck code used in the demo.</a:t>
            </a:r>
            <a:endParaRPr lang="en-US" sz="745" dirty="0"/>
          </a:p>
        </p:txBody>
      </p:sp>
      <p:sp>
        <p:nvSpPr>
          <p:cNvPr id="17" name="Shape 15"/>
          <p:cNvSpPr/>
          <p:nvPr/>
        </p:nvSpPr>
        <p:spPr>
          <a:xfrm>
            <a:off x="502920" y="2121408"/>
            <a:ext cx="1201522" cy="64008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57784" y="2176272"/>
            <a:ext cx="10917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Schema/setup</a:t>
            </a:r>
            <a:endParaRPr lang="en-US" sz="745" dirty="0"/>
          </a:p>
        </p:txBody>
      </p:sp>
      <p:sp>
        <p:nvSpPr>
          <p:cNvPr id="19" name="Shape 17"/>
          <p:cNvSpPr/>
          <p:nvPr/>
        </p:nvSpPr>
        <p:spPr>
          <a:xfrm>
            <a:off x="1704442" y="2121408"/>
            <a:ext cx="2803550" cy="64008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759306" y="2176272"/>
            <a:ext cx="269382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001_schema.sql, setup_age.sql, load_age_graph*.sql</a:t>
            </a:r>
            <a:endParaRPr lang="en-US" sz="745" dirty="0"/>
          </a:p>
        </p:txBody>
      </p:sp>
      <p:sp>
        <p:nvSpPr>
          <p:cNvPr id="21" name="Shape 19"/>
          <p:cNvSpPr/>
          <p:nvPr/>
        </p:nvSpPr>
        <p:spPr>
          <a:xfrm>
            <a:off x="4507992" y="2121408"/>
            <a:ext cx="2670048" cy="64008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562856" y="2176272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schema and graph projections can be rebuilt from scratch.</a:t>
            </a:r>
            <a:endParaRPr lang="en-US" sz="745" dirty="0"/>
          </a:p>
        </p:txBody>
      </p:sp>
      <p:sp>
        <p:nvSpPr>
          <p:cNvPr id="23" name="Shape 21"/>
          <p:cNvSpPr/>
          <p:nvPr/>
        </p:nvSpPr>
        <p:spPr>
          <a:xfrm>
            <a:off x="502920" y="2761488"/>
            <a:ext cx="120152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57784" y="2816352"/>
            <a:ext cx="10917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745" dirty="0"/>
          </a:p>
        </p:txBody>
      </p:sp>
      <p:sp>
        <p:nvSpPr>
          <p:cNvPr id="25" name="Shape 23"/>
          <p:cNvSpPr/>
          <p:nvPr/>
        </p:nvSpPr>
        <p:spPr>
          <a:xfrm>
            <a:off x="1704442" y="2761488"/>
            <a:ext cx="280355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1759306" y="2816352"/>
            <a:ext cx="269382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data/synthetic/*.csv</a:t>
            </a:r>
            <a:endParaRPr lang="en-US" sz="745" dirty="0"/>
          </a:p>
        </p:txBody>
      </p:sp>
      <p:sp>
        <p:nvSpPr>
          <p:cNvPr id="27" name="Shape 25"/>
          <p:cNvSpPr/>
          <p:nvPr/>
        </p:nvSpPr>
        <p:spPr>
          <a:xfrm>
            <a:off x="4507992" y="2761488"/>
            <a:ext cx="267004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4562856" y="2816352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benchmark uses a small labeled workload with normal and suspicious scenarios.</a:t>
            </a:r>
            <a:endParaRPr lang="en-US" sz="745" dirty="0"/>
          </a:p>
        </p:txBody>
      </p:sp>
      <p:sp>
        <p:nvSpPr>
          <p:cNvPr id="29" name="Shape 27"/>
          <p:cNvSpPr/>
          <p:nvPr/>
        </p:nvSpPr>
        <p:spPr>
          <a:xfrm>
            <a:off x="502920" y="3401568"/>
            <a:ext cx="1201522" cy="64008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557784" y="3456432"/>
            <a:ext cx="10917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Instructions to run</a:t>
            </a:r>
            <a:endParaRPr lang="en-US" sz="745" dirty="0"/>
          </a:p>
        </p:txBody>
      </p:sp>
      <p:sp>
        <p:nvSpPr>
          <p:cNvPr id="31" name="Shape 29"/>
          <p:cNvSpPr/>
          <p:nvPr/>
        </p:nvSpPr>
        <p:spPr>
          <a:xfrm>
            <a:off x="1704442" y="3401568"/>
            <a:ext cx="2803550" cy="64008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1759306" y="3456432"/>
            <a:ext cx="269382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README.md and scripts/reset_pipeline.sh</a:t>
            </a:r>
            <a:endParaRPr lang="en-US" sz="745" dirty="0"/>
          </a:p>
        </p:txBody>
      </p:sp>
      <p:sp>
        <p:nvSpPr>
          <p:cNvPr id="33" name="Shape 31"/>
          <p:cNvSpPr/>
          <p:nvPr/>
        </p:nvSpPr>
        <p:spPr>
          <a:xfrm>
            <a:off x="4507992" y="3401568"/>
            <a:ext cx="2670048" cy="64008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4562856" y="3456432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TA can reset the environment and replay the demo steps.</a:t>
            </a:r>
            <a:endParaRPr lang="en-US" sz="745" dirty="0"/>
          </a:p>
        </p:txBody>
      </p:sp>
      <p:sp>
        <p:nvSpPr>
          <p:cNvPr id="35" name="Shape 33"/>
          <p:cNvSpPr/>
          <p:nvPr/>
        </p:nvSpPr>
        <p:spPr>
          <a:xfrm>
            <a:off x="7424928" y="1078992"/>
            <a:ext cx="4233672" cy="2304288"/>
          </a:xfrm>
          <a:prstGeom prst="roundRect">
            <a:avLst>
              <a:gd name="adj" fmla="val 2381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7552944" y="1188720"/>
            <a:ext cx="3977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RESET AND RUN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7571232" y="1463040"/>
            <a:ext cx="3941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./scripts/reset_pipeline.sh</a:t>
            </a:r>
            <a:endParaRPr lang="en-US" sz="740" dirty="0"/>
          </a:p>
        </p:txBody>
      </p:sp>
      <p:sp>
        <p:nvSpPr>
          <p:cNvPr id="38" name="Text 36"/>
          <p:cNvSpPr/>
          <p:nvPr/>
        </p:nvSpPr>
        <p:spPr>
          <a:xfrm>
            <a:off x="7571232" y="1682496"/>
            <a:ext cx="3941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exec -i -w /workspace apache-age \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7571232" y="1901952"/>
            <a:ext cx="3941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psql -U postgres -d hybrid_aml \</a:t>
            </a:r>
            <a:endParaRPr lang="en-US" sz="740" dirty="0"/>
          </a:p>
        </p:txBody>
      </p:sp>
      <p:sp>
        <p:nvSpPr>
          <p:cNvPr id="40" name="Text 38"/>
          <p:cNvSpPr/>
          <p:nvPr/>
        </p:nvSpPr>
        <p:spPr>
          <a:xfrm>
            <a:off x="7571232" y="2121408"/>
            <a:ext cx="3941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 database/queries/smurfing_detection.sql</a:t>
            </a:r>
            <a:endParaRPr lang="en-US" sz="740" dirty="0"/>
          </a:p>
        </p:txBody>
      </p:sp>
      <p:sp>
        <p:nvSpPr>
          <p:cNvPr id="41" name="Text 39"/>
          <p:cNvSpPr/>
          <p:nvPr/>
        </p:nvSpPr>
        <p:spPr>
          <a:xfrm>
            <a:off x="7571232" y="2340864"/>
            <a:ext cx="3941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exec -i -w /workspace apache-age \</a:t>
            </a:r>
            <a:endParaRPr lang="en-US" sz="740" dirty="0"/>
          </a:p>
        </p:txBody>
      </p:sp>
      <p:sp>
        <p:nvSpPr>
          <p:cNvPr id="42" name="Text 40"/>
          <p:cNvSpPr/>
          <p:nvPr/>
        </p:nvSpPr>
        <p:spPr>
          <a:xfrm>
            <a:off x="7571232" y="2560320"/>
            <a:ext cx="3941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 database/queries/circular_trading_cypher_tuned.sql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7424928" y="3584448"/>
            <a:ext cx="4233672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7552944" y="3694176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552944" y="398678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live demo proves the repo can rebuild data, load schema, materialize graphs, and execute both query paths from one reset-first workflow.</a:t>
            </a:r>
            <a:endParaRPr lang="en-US" sz="805" dirty="0"/>
          </a:p>
        </p:txBody>
      </p:sp>
      <p:sp>
        <p:nvSpPr>
          <p:cNvPr id="46" name="Shape 44"/>
          <p:cNvSpPr/>
          <p:nvPr/>
        </p:nvSpPr>
        <p:spPr>
          <a:xfrm>
            <a:off x="502920" y="5413248"/>
            <a:ext cx="11155680" cy="530352"/>
          </a:xfrm>
          <a:prstGeom prst="roundRect">
            <a:avLst>
              <a:gd name="adj" fmla="val 10345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612648" y="5508711"/>
            <a:ext cx="2569464" cy="18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324</a:t>
            </a:r>
            <a:endParaRPr lang="en-US" sz="2100" dirty="0"/>
          </a:p>
        </p:txBody>
      </p:sp>
      <p:sp>
        <p:nvSpPr>
          <p:cNvPr id="48" name="Text 46"/>
          <p:cNvSpPr/>
          <p:nvPr/>
        </p:nvSpPr>
        <p:spPr>
          <a:xfrm>
            <a:off x="612648" y="5815584"/>
            <a:ext cx="25694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760" dirty="0"/>
          </a:p>
        </p:txBody>
      </p:sp>
      <p:sp>
        <p:nvSpPr>
          <p:cNvPr id="49" name="Shape 47"/>
          <p:cNvSpPr/>
          <p:nvPr/>
        </p:nvSpPr>
        <p:spPr>
          <a:xfrm>
            <a:off x="3291840" y="5504688"/>
            <a:ext cx="0" cy="347472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3401568" y="5508711"/>
            <a:ext cx="2569464" cy="18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369</a:t>
            </a:r>
            <a:endParaRPr lang="en-US" sz="2100" dirty="0"/>
          </a:p>
        </p:txBody>
      </p:sp>
      <p:sp>
        <p:nvSpPr>
          <p:cNvPr id="51" name="Text 49"/>
          <p:cNvSpPr/>
          <p:nvPr/>
        </p:nvSpPr>
        <p:spPr>
          <a:xfrm>
            <a:off x="3401568" y="5815584"/>
            <a:ext cx="25694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accounts</a:t>
            </a:r>
            <a:endParaRPr lang="en-US" sz="760" dirty="0"/>
          </a:p>
        </p:txBody>
      </p:sp>
      <p:sp>
        <p:nvSpPr>
          <p:cNvPr id="52" name="Shape 50"/>
          <p:cNvSpPr/>
          <p:nvPr/>
        </p:nvSpPr>
        <p:spPr>
          <a:xfrm>
            <a:off x="6080760" y="5504688"/>
            <a:ext cx="0" cy="347472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6190488" y="5508711"/>
            <a:ext cx="2569464" cy="18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1,896</a:t>
            </a:r>
            <a:endParaRPr lang="en-US" sz="2100" dirty="0"/>
          </a:p>
        </p:txBody>
      </p:sp>
      <p:sp>
        <p:nvSpPr>
          <p:cNvPr id="54" name="Text 52"/>
          <p:cNvSpPr/>
          <p:nvPr/>
        </p:nvSpPr>
        <p:spPr>
          <a:xfrm>
            <a:off x="6190488" y="5815584"/>
            <a:ext cx="25694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transactions</a:t>
            </a:r>
            <a:endParaRPr lang="en-US" sz="760" dirty="0"/>
          </a:p>
        </p:txBody>
      </p:sp>
      <p:sp>
        <p:nvSpPr>
          <p:cNvPr id="55" name="Shape 53"/>
          <p:cNvSpPr/>
          <p:nvPr/>
        </p:nvSpPr>
        <p:spPr>
          <a:xfrm>
            <a:off x="8869680" y="5504688"/>
            <a:ext cx="0" cy="347472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/>
          <p:nvPr/>
        </p:nvSpPr>
        <p:spPr>
          <a:xfrm>
            <a:off x="8979408" y="5508711"/>
            <a:ext cx="2569464" cy="18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100" dirty="0"/>
          </a:p>
        </p:txBody>
      </p:sp>
      <p:sp>
        <p:nvSpPr>
          <p:cNvPr id="57" name="Text 55"/>
          <p:cNvSpPr/>
          <p:nvPr/>
        </p:nvSpPr>
        <p:spPr>
          <a:xfrm>
            <a:off x="8979408" y="5815584"/>
            <a:ext cx="25694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reset command</a:t>
            </a:r>
            <a:endParaRPr lang="en-US" sz="760" dirty="0"/>
          </a:p>
        </p:txBody>
      </p:sp>
      <p:sp>
        <p:nvSpPr>
          <p:cNvPr id="58" name="Shape 56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7"/>
          <p:cNvSpPr/>
          <p:nvPr/>
        </p:nvSpPr>
        <p:spPr>
          <a:xfrm>
            <a:off x="530352" y="6473952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README.md; scripts/reset_pipeline.sh; database/; data/synthetic/.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10835640" y="645566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10927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Prototype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prototype flow comes from the midterm Figure 1 and still matches the current demo stack.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024128"/>
            <a:ext cx="7086600" cy="4224528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/Users/chan/Desktop/DSCI 551 Project/DSCI-551-Data-Base-Course-Project/docs/demo/assets/midterm_prototype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62668"/>
            <a:ext cx="6812280" cy="385600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818120" y="1060704"/>
            <a:ext cx="384048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7946136" y="1170432"/>
            <a:ext cx="3584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of truth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946136" y="146304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customers, accounts, and transactions are generated first and loaded into PostgreSQL tables.</a:t>
            </a:r>
            <a:endParaRPr lang="en-US" sz="805" dirty="0"/>
          </a:p>
        </p:txBody>
      </p:sp>
      <p:sp>
        <p:nvSpPr>
          <p:cNvPr id="10" name="Shape 7"/>
          <p:cNvSpPr/>
          <p:nvPr/>
        </p:nvSpPr>
        <p:spPr>
          <a:xfrm>
            <a:off x="7818120" y="2468880"/>
            <a:ext cx="3840480" cy="1335024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7946136" y="2578608"/>
            <a:ext cx="3584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projection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946136" y="2871216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then projects Account vertices and TRANSFER edges from the same relational workload for Cypher-based analysis.</a:t>
            </a:r>
            <a:endParaRPr lang="en-US" sz="805" dirty="0"/>
          </a:p>
        </p:txBody>
      </p:sp>
      <p:sp>
        <p:nvSpPr>
          <p:cNvPr id="13" name="Shape 10"/>
          <p:cNvSpPr/>
          <p:nvPr/>
        </p:nvSpPr>
        <p:spPr>
          <a:xfrm>
            <a:off x="7818120" y="4023360"/>
            <a:ext cx="384048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7946136" y="4133088"/>
            <a:ext cx="3584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slide matters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946136" y="4425696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architecture slide is about system flow only; the storage and execution details come next in the focus area slides.</a:t>
            </a:r>
            <a:endParaRPr lang="en-US" sz="805" dirty="0"/>
          </a:p>
        </p:txBody>
      </p:sp>
      <p:sp>
        <p:nvSpPr>
          <p:cNvPr id="16" name="Text 13"/>
          <p:cNvSpPr/>
          <p:nvPr/>
        </p:nvSpPr>
        <p:spPr>
          <a:xfrm>
            <a:off x="530352" y="5522976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5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takeaway: one pipeline produces both relational analysis and graph analysis from the same synthetic workload.</a:t>
            </a:r>
            <a:endParaRPr lang="en-US" sz="735" dirty="0"/>
          </a:p>
        </p:txBody>
      </p:sp>
      <p:sp>
        <p:nvSpPr>
          <p:cNvPr id="17" name="Shape 14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530352" y="6473952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docs/reports/Phase2_MidtermReport_ChanyoungKim_YogitaMutyala.pdf, Figure 1 on page 2; current demo reuses the same architecture with richer queries.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10835640" y="645566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10927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Focus Area 1: Storage Architecture</a:t>
            </a:r>
            <a:endParaRPr lang="en-US" sz="2200" dirty="0"/>
          </a:p>
        </p:txBody>
      </p:sp>
      <p:sp>
        <p:nvSpPr>
          <p:cNvPr id="43" name="Text 40"/>
          <p:cNvSpPr/>
          <p:nvPr/>
        </p:nvSpPr>
        <p:spPr>
          <a:xfrm>
            <a:off x="6177847" y="672359"/>
            <a:ext cx="4214039" cy="469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990000"/>
                </a:solidFill>
                <a:latin typeface="Arial" pitchFamily="34" charset="0"/>
                <a:cs typeface="Arial" pitchFamily="34" charset="-120"/>
              </a:rPr>
              <a:t>APACHE AGE System Architecture</a:t>
            </a:r>
            <a:endParaRPr lang="en-US" sz="1600" dirty="0"/>
          </a:p>
        </p:txBody>
      </p:sp>
      <p:sp>
        <p:nvSpPr>
          <p:cNvPr id="57" name="Shape 54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6"/>
          <p:cNvSpPr/>
          <p:nvPr/>
        </p:nvSpPr>
        <p:spPr>
          <a:xfrm>
            <a:off x="10835640" y="645566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700" dirty="0"/>
          </a:p>
        </p:txBody>
      </p:sp>
      <p:pic>
        <p:nvPicPr>
          <p:cNvPr id="60" name="그림 59">
            <a:extLst>
              <a:ext uri="{FF2B5EF4-FFF2-40B4-BE49-F238E27FC236}">
                <a16:creationId xmlns:a16="http://schemas.microsoft.com/office/drawing/2014/main" id="{8305C099-3626-69E9-60BE-B8AD4EE05E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257579"/>
            <a:ext cx="3202745" cy="4146525"/>
          </a:xfrm>
          <a:prstGeom prst="rect">
            <a:avLst/>
          </a:prstGeom>
          <a:ln w="12700">
            <a:noFill/>
          </a:ln>
        </p:spPr>
      </p:pic>
      <p:sp>
        <p:nvSpPr>
          <p:cNvPr id="61" name="Text 40">
            <a:extLst>
              <a:ext uri="{FF2B5EF4-FFF2-40B4-BE49-F238E27FC236}">
                <a16:creationId xmlns:a16="http://schemas.microsoft.com/office/drawing/2014/main" id="{B53CDDCA-840E-2AD6-5597-6603EBF47869}"/>
              </a:ext>
            </a:extLst>
          </p:cNvPr>
          <p:cNvSpPr/>
          <p:nvPr/>
        </p:nvSpPr>
        <p:spPr>
          <a:xfrm>
            <a:off x="585664" y="672359"/>
            <a:ext cx="4214039" cy="469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chemeClr val="accent1"/>
                </a:solidFill>
                <a:latin typeface="Arial" pitchFamily="34" charset="0"/>
                <a:cs typeface="Arial" pitchFamily="34" charset="-120"/>
              </a:rPr>
              <a:t>PostgreSQL System Architecture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62" name="Shape 3">
            <a:extLst>
              <a:ext uri="{FF2B5EF4-FFF2-40B4-BE49-F238E27FC236}">
                <a16:creationId xmlns:a16="http://schemas.microsoft.com/office/drawing/2014/main" id="{EF5A619C-4BB5-71B7-9644-CBF0063AA376}"/>
              </a:ext>
            </a:extLst>
          </p:cNvPr>
          <p:cNvSpPr/>
          <p:nvPr/>
        </p:nvSpPr>
        <p:spPr>
          <a:xfrm>
            <a:off x="6177847" y="5404104"/>
            <a:ext cx="5835962" cy="905253"/>
          </a:xfrm>
          <a:prstGeom prst="roundRect">
            <a:avLst>
              <a:gd name="adj" fmla="val 2703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4">
            <a:extLst>
              <a:ext uri="{FF2B5EF4-FFF2-40B4-BE49-F238E27FC236}">
                <a16:creationId xmlns:a16="http://schemas.microsoft.com/office/drawing/2014/main" id="{2C168266-C772-DFF1-4E74-F054FC0F74AF}"/>
              </a:ext>
            </a:extLst>
          </p:cNvPr>
          <p:cNvSpPr/>
          <p:nvPr/>
        </p:nvSpPr>
        <p:spPr>
          <a:xfrm>
            <a:off x="6305863" y="5513832"/>
            <a:ext cx="5184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990000"/>
                </a:solidFill>
                <a:latin typeface="Arial" pitchFamily="34" charset="0"/>
                <a:cs typeface="Arial" pitchFamily="34" charset="-120"/>
              </a:rPr>
              <a:t>Difference from other Graph DBMS</a:t>
            </a:r>
            <a:endParaRPr lang="en-US" sz="1000" dirty="0"/>
          </a:p>
        </p:txBody>
      </p:sp>
      <p:sp>
        <p:nvSpPr>
          <p:cNvPr id="64" name="Text 4">
            <a:extLst>
              <a:ext uri="{FF2B5EF4-FFF2-40B4-BE49-F238E27FC236}">
                <a16:creationId xmlns:a16="http://schemas.microsoft.com/office/drawing/2014/main" id="{75EDBFBB-9F8C-F13A-56BE-20EF5F6F3672}"/>
              </a:ext>
            </a:extLst>
          </p:cNvPr>
          <p:cNvSpPr/>
          <p:nvPr/>
        </p:nvSpPr>
        <p:spPr>
          <a:xfrm>
            <a:off x="6305862" y="5733288"/>
            <a:ext cx="5506033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altLang="ko-KR" sz="1200" dirty="0">
                <a:latin typeface="ui-monospace"/>
              </a:rPr>
              <a:t>U</a:t>
            </a:r>
            <a:r>
              <a:rPr lang="en" altLang="ko-KR" sz="1200" b="0" i="0" dirty="0" err="1">
                <a:effectLst/>
                <a:latin typeface="ui-monospace"/>
              </a:rPr>
              <a:t>nlike</a:t>
            </a:r>
            <a:r>
              <a:rPr lang="en" altLang="ko-KR" sz="1200" b="0" i="0" dirty="0">
                <a:effectLst/>
                <a:latin typeface="ui-monospace"/>
              </a:rPr>
              <a:t> native graph databases, Apache AGE does not use a separate graph storage engine. It layers graph querying on top of PostgreSQL so relational and graph workloads share one transactional system.</a:t>
            </a:r>
            <a:endParaRPr lang="en-US" sz="1200" dirty="0"/>
          </a:p>
        </p:txBody>
      </p:sp>
      <p:sp>
        <p:nvSpPr>
          <p:cNvPr id="66" name="Shape 3">
            <a:extLst>
              <a:ext uri="{FF2B5EF4-FFF2-40B4-BE49-F238E27FC236}">
                <a16:creationId xmlns:a16="http://schemas.microsoft.com/office/drawing/2014/main" id="{A8B5D1E8-F981-6C1D-A0A8-F5DDE5997DEA}"/>
              </a:ext>
            </a:extLst>
          </p:cNvPr>
          <p:cNvSpPr/>
          <p:nvPr/>
        </p:nvSpPr>
        <p:spPr>
          <a:xfrm>
            <a:off x="585664" y="5399454"/>
            <a:ext cx="5457084" cy="905253"/>
          </a:xfrm>
          <a:prstGeom prst="roundRect">
            <a:avLst>
              <a:gd name="adj" fmla="val 2703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Text 4">
            <a:extLst>
              <a:ext uri="{FF2B5EF4-FFF2-40B4-BE49-F238E27FC236}">
                <a16:creationId xmlns:a16="http://schemas.microsoft.com/office/drawing/2014/main" id="{90C33C8D-FFF5-E63F-84BA-AFA101D8C7AF}"/>
              </a:ext>
            </a:extLst>
          </p:cNvPr>
          <p:cNvSpPr/>
          <p:nvPr/>
        </p:nvSpPr>
        <p:spPr>
          <a:xfrm>
            <a:off x="671396" y="5509182"/>
            <a:ext cx="484805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chemeClr val="accent1"/>
                </a:solidFill>
                <a:latin typeface="Arial" pitchFamily="34" charset="0"/>
                <a:cs typeface="Arial" pitchFamily="34" charset="-120"/>
              </a:rPr>
              <a:t>Difference from other RDBMS</a:t>
            </a:r>
            <a:endParaRPr lang="en-US" sz="1000" dirty="0">
              <a:solidFill>
                <a:schemeClr val="accent1"/>
              </a:solidFill>
            </a:endParaRPr>
          </a:p>
        </p:txBody>
      </p:sp>
      <p:sp>
        <p:nvSpPr>
          <p:cNvPr id="68" name="Text 4">
            <a:extLst>
              <a:ext uri="{FF2B5EF4-FFF2-40B4-BE49-F238E27FC236}">
                <a16:creationId xmlns:a16="http://schemas.microsoft.com/office/drawing/2014/main" id="{67386CD1-E0B8-F681-FB85-AC623E162873}"/>
              </a:ext>
            </a:extLst>
          </p:cNvPr>
          <p:cNvSpPr/>
          <p:nvPr/>
        </p:nvSpPr>
        <p:spPr>
          <a:xfrm>
            <a:off x="692260" y="5728638"/>
            <a:ext cx="514857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" altLang="ko-KR" sz="1200" b="0" i="0" dirty="0">
                <a:effectLst/>
                <a:latin typeface="ui-monospace"/>
              </a:rPr>
              <a:t>Unlike MySQL with the </a:t>
            </a:r>
            <a:r>
              <a:rPr lang="en" altLang="ko-KR" sz="1200" b="0" i="0" dirty="0" err="1">
                <a:effectLst/>
                <a:latin typeface="ui-monospace"/>
              </a:rPr>
              <a:t>InnoDB</a:t>
            </a:r>
            <a:r>
              <a:rPr lang="en" altLang="ko-KR" sz="1200" b="0" i="0" dirty="0">
                <a:effectLst/>
                <a:latin typeface="ui-monospace"/>
              </a:rPr>
              <a:t> storage engine, PostgreSQL does not separate the SQL layer from a standalone storage engine. It uses a more unified architecture with tuple-version MVCC and stronger extensibility.</a:t>
            </a:r>
            <a:endParaRPr lang="en-US" sz="1200" dirty="0"/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805D9EF6-239F-F5E0-7C06-57A488FB51F7}"/>
              </a:ext>
            </a:extLst>
          </p:cNvPr>
          <p:cNvSpPr/>
          <p:nvPr/>
        </p:nvSpPr>
        <p:spPr>
          <a:xfrm>
            <a:off x="9382737" y="1317212"/>
            <a:ext cx="2631072" cy="79995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" altLang="ko-KR" sz="1200" b="0" i="0" dirty="0">
                <a:solidFill>
                  <a:schemeClr val="tx1"/>
                </a:solidFill>
                <a:effectLst/>
                <a:latin typeface="ui-monospace"/>
              </a:rPr>
              <a:t>AGE first parses </a:t>
            </a:r>
            <a:r>
              <a:rPr lang="en" altLang="ko-KR" sz="1200" b="0" i="0" dirty="0" err="1">
                <a:solidFill>
                  <a:schemeClr val="tx1"/>
                </a:solidFill>
                <a:effectLst/>
                <a:latin typeface="ui-monospace"/>
              </a:rPr>
              <a:t>openCypher</a:t>
            </a:r>
            <a:r>
              <a:rPr lang="en" altLang="ko-KR" sz="1200" b="0" i="0" dirty="0">
                <a:solidFill>
                  <a:schemeClr val="tx1"/>
                </a:solidFill>
                <a:effectLst/>
                <a:latin typeface="ui-monospace"/>
              </a:rPr>
              <a:t> syntax embedded in the cypher() call and identifies the requested graph operations.</a:t>
            </a:r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508BA5FD-12DD-8D63-365B-2E29CAA5B802}"/>
              </a:ext>
            </a:extLst>
          </p:cNvPr>
          <p:cNvSpPr/>
          <p:nvPr/>
        </p:nvSpPr>
        <p:spPr>
          <a:xfrm>
            <a:off x="9382737" y="2384449"/>
            <a:ext cx="2631072" cy="79995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" altLang="ko-KR" sz="1200" b="0" i="0" dirty="0">
                <a:solidFill>
                  <a:schemeClr val="tx1"/>
                </a:solidFill>
                <a:effectLst/>
                <a:latin typeface="ui-monospace"/>
              </a:rPr>
              <a:t>The parsed Cypher query is transformed into PostgreSQL's internal query tree, usually as a subquery node inside the SQL pipeline</a:t>
            </a:r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19C2795B-D242-D169-2AA8-15A30F1B1222}"/>
              </a:ext>
            </a:extLst>
          </p:cNvPr>
          <p:cNvSpPr/>
          <p:nvPr/>
        </p:nvSpPr>
        <p:spPr>
          <a:xfrm>
            <a:off x="9382737" y="3451686"/>
            <a:ext cx="2631072" cy="79995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en" altLang="ko-KR" sz="1200" b="0" i="0" dirty="0">
                <a:solidFill>
                  <a:schemeClr val="tx1"/>
                </a:solidFill>
                <a:effectLst/>
                <a:latin typeface="ui-monospace"/>
              </a:rPr>
              <a:t>PostgreSQL then builds the execution plan, while AGE adds graph-aware plan nodes for pattern matching, traversal, and property access.</a:t>
            </a:r>
            <a:endParaRPr lang="en" altLang="ko-KR" sz="1200" b="0" i="0" dirty="0">
              <a:solidFill>
                <a:schemeClr val="tx1"/>
              </a:solidFill>
              <a:effectLst/>
              <a:latin typeface="-apple-system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62579572-C2DD-487F-577F-9A1478ECB7DB}"/>
              </a:ext>
            </a:extLst>
          </p:cNvPr>
          <p:cNvSpPr/>
          <p:nvPr/>
        </p:nvSpPr>
        <p:spPr>
          <a:xfrm>
            <a:off x="9351997" y="4518924"/>
            <a:ext cx="2631072" cy="79995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" altLang="ko-KR" sz="1200" b="0" i="0" dirty="0">
                <a:solidFill>
                  <a:schemeClr val="tx1"/>
                </a:solidFill>
                <a:effectLst/>
                <a:latin typeface="ui-monospace"/>
              </a:rPr>
              <a:t>The executor runs those plan nodes on graph labels stored in PostgreSQL, so AGE ultimately relies on PostgreSQL storage, cache, and ACID transactions.</a:t>
            </a:r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46932EDB-E810-8CC5-6420-639305C09324}"/>
              </a:ext>
            </a:extLst>
          </p:cNvPr>
          <p:cNvSpPr/>
          <p:nvPr/>
        </p:nvSpPr>
        <p:spPr>
          <a:xfrm>
            <a:off x="6938107" y="1945447"/>
            <a:ext cx="2065468" cy="3442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78" name="꺾인 연결선[E] 77">
            <a:extLst>
              <a:ext uri="{FF2B5EF4-FFF2-40B4-BE49-F238E27FC236}">
                <a16:creationId xmlns:a16="http://schemas.microsoft.com/office/drawing/2014/main" id="{6234E9A3-D362-EF4D-C90C-40984887E0D4}"/>
              </a:ext>
            </a:extLst>
          </p:cNvPr>
          <p:cNvCxnSpPr>
            <a:cxnSpLocks/>
            <a:stCxn id="73" idx="3"/>
            <a:endCxn id="69" idx="1"/>
          </p:cNvCxnSpPr>
          <p:nvPr/>
        </p:nvCxnSpPr>
        <p:spPr>
          <a:xfrm flipV="1">
            <a:off x="9003575" y="1717189"/>
            <a:ext cx="379162" cy="40038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705A7C69-0637-D3BF-61C3-764FEB074233}"/>
              </a:ext>
            </a:extLst>
          </p:cNvPr>
          <p:cNvSpPr/>
          <p:nvPr/>
        </p:nvSpPr>
        <p:spPr>
          <a:xfrm>
            <a:off x="6938107" y="2572364"/>
            <a:ext cx="2065468" cy="3442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88" name="꺾인 연결선[E] 87">
            <a:extLst>
              <a:ext uri="{FF2B5EF4-FFF2-40B4-BE49-F238E27FC236}">
                <a16:creationId xmlns:a16="http://schemas.microsoft.com/office/drawing/2014/main" id="{A8F3B823-F1DC-E7D1-6734-7526095970C6}"/>
              </a:ext>
            </a:extLst>
          </p:cNvPr>
          <p:cNvCxnSpPr>
            <a:cxnSpLocks/>
            <a:stCxn id="87" idx="3"/>
            <a:endCxn id="70" idx="1"/>
          </p:cNvCxnSpPr>
          <p:nvPr/>
        </p:nvCxnSpPr>
        <p:spPr>
          <a:xfrm>
            <a:off x="9003575" y="2744487"/>
            <a:ext cx="379162" cy="3993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298094B3-5F3E-B630-8DBF-19652C707738}"/>
              </a:ext>
            </a:extLst>
          </p:cNvPr>
          <p:cNvSpPr/>
          <p:nvPr/>
        </p:nvSpPr>
        <p:spPr>
          <a:xfrm>
            <a:off x="6938107" y="3206589"/>
            <a:ext cx="2065468" cy="3442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90" name="꺾인 연결선[E] 89">
            <a:extLst>
              <a:ext uri="{FF2B5EF4-FFF2-40B4-BE49-F238E27FC236}">
                <a16:creationId xmlns:a16="http://schemas.microsoft.com/office/drawing/2014/main" id="{B5F33E3B-1967-B1C6-C76C-7C0B3833EFC1}"/>
              </a:ext>
            </a:extLst>
          </p:cNvPr>
          <p:cNvCxnSpPr>
            <a:cxnSpLocks/>
            <a:stCxn id="89" idx="3"/>
            <a:endCxn id="71" idx="1"/>
          </p:cNvCxnSpPr>
          <p:nvPr/>
        </p:nvCxnSpPr>
        <p:spPr>
          <a:xfrm>
            <a:off x="9003575" y="3378712"/>
            <a:ext cx="379162" cy="47295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CA6FAF34-AD74-0A0E-F5A9-399D93763F5E}"/>
              </a:ext>
            </a:extLst>
          </p:cNvPr>
          <p:cNvSpPr/>
          <p:nvPr/>
        </p:nvSpPr>
        <p:spPr>
          <a:xfrm>
            <a:off x="6938107" y="3832394"/>
            <a:ext cx="2065468" cy="3442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95" name="꺾인 연결선[E] 94">
            <a:extLst>
              <a:ext uri="{FF2B5EF4-FFF2-40B4-BE49-F238E27FC236}">
                <a16:creationId xmlns:a16="http://schemas.microsoft.com/office/drawing/2014/main" id="{7A5CE7E0-9A52-5DC2-EBA4-446E2C0A0A95}"/>
              </a:ext>
            </a:extLst>
          </p:cNvPr>
          <p:cNvCxnSpPr>
            <a:cxnSpLocks/>
            <a:stCxn id="94" idx="3"/>
            <a:endCxn id="72" idx="1"/>
          </p:cNvCxnSpPr>
          <p:nvPr/>
        </p:nvCxnSpPr>
        <p:spPr>
          <a:xfrm>
            <a:off x="9003575" y="4004517"/>
            <a:ext cx="348422" cy="91438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7" name="그림 96">
            <a:extLst>
              <a:ext uri="{FF2B5EF4-FFF2-40B4-BE49-F238E27FC236}">
                <a16:creationId xmlns:a16="http://schemas.microsoft.com/office/drawing/2014/main" id="{47E5093E-4559-E7FE-FE2C-465D263271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789" y="1316403"/>
            <a:ext cx="2862139" cy="3968670"/>
          </a:xfrm>
          <a:prstGeom prst="rect">
            <a:avLst/>
          </a:prstGeom>
        </p:spPr>
      </p:pic>
      <p:sp>
        <p:nvSpPr>
          <p:cNvPr id="98" name="직사각형 97">
            <a:extLst>
              <a:ext uri="{FF2B5EF4-FFF2-40B4-BE49-F238E27FC236}">
                <a16:creationId xmlns:a16="http://schemas.microsoft.com/office/drawing/2014/main" id="{0A0CACEA-FB04-038D-E55D-68A103AED72F}"/>
              </a:ext>
            </a:extLst>
          </p:cNvPr>
          <p:cNvSpPr/>
          <p:nvPr/>
        </p:nvSpPr>
        <p:spPr>
          <a:xfrm>
            <a:off x="3692868" y="1401293"/>
            <a:ext cx="2294463" cy="79995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" altLang="ko-KR" sz="1200" dirty="0">
                <a:solidFill>
                  <a:schemeClr val="tx1"/>
                </a:solidFill>
                <a:latin typeface="ui-monospace"/>
              </a:rPr>
              <a:t>PostgreSQL first parses incoming SQL and converts it into an internal query representation.</a:t>
            </a: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714F6CB6-338B-1B66-9A68-DC0B3CC6794E}"/>
              </a:ext>
            </a:extLst>
          </p:cNvPr>
          <p:cNvSpPr/>
          <p:nvPr/>
        </p:nvSpPr>
        <p:spPr>
          <a:xfrm>
            <a:off x="3692868" y="2440503"/>
            <a:ext cx="2294463" cy="79995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" altLang="ko-KR" sz="1200" dirty="0">
                <a:solidFill>
                  <a:schemeClr val="tx1"/>
                </a:solidFill>
                <a:latin typeface="ui-monospace"/>
              </a:rPr>
              <a:t>The system rewrites complex queries when needed and chooses the lowest-cost execution plan</a:t>
            </a:r>
            <a:endParaRPr lang="ko-KR" altLang="en-US" sz="1200" dirty="0">
              <a:solidFill>
                <a:schemeClr val="tx1"/>
              </a:solidFill>
              <a:latin typeface="ui-monospace"/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D060D701-1269-0110-9D33-C1725A18B5F4}"/>
              </a:ext>
            </a:extLst>
          </p:cNvPr>
          <p:cNvSpPr/>
          <p:nvPr/>
        </p:nvSpPr>
        <p:spPr>
          <a:xfrm>
            <a:off x="3692868" y="3479713"/>
            <a:ext cx="2294463" cy="79995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" altLang="ko-KR" sz="1200" dirty="0">
                <a:solidFill>
                  <a:schemeClr val="tx1"/>
                </a:solidFill>
                <a:latin typeface="ui-monospace"/>
              </a:rPr>
              <a:t>The executor runs the selected plan on heap-organized tables, with indexes pointing to the target heap </a:t>
            </a:r>
            <a:r>
              <a:rPr lang="en" altLang="ko-KR" sz="1200">
                <a:solidFill>
                  <a:schemeClr val="tx1"/>
                </a:solidFill>
                <a:latin typeface="ui-monospace"/>
              </a:rPr>
              <a:t>tuples.</a:t>
            </a:r>
            <a:endParaRPr lang="en" altLang="ko-KR" sz="1200" dirty="0">
              <a:solidFill>
                <a:schemeClr val="tx1"/>
              </a:solidFill>
              <a:latin typeface="ui-monospace"/>
            </a:endParaRP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BAF2FBBC-466F-4E14-0E58-F1805FE47552}"/>
              </a:ext>
            </a:extLst>
          </p:cNvPr>
          <p:cNvSpPr/>
          <p:nvPr/>
        </p:nvSpPr>
        <p:spPr>
          <a:xfrm>
            <a:off x="3704168" y="4518924"/>
            <a:ext cx="2294463" cy="79995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" altLang="ko-KR" sz="1200" dirty="0">
                <a:solidFill>
                  <a:schemeClr val="tx1"/>
                </a:solidFill>
                <a:latin typeface="ui-monospace"/>
              </a:rPr>
              <a:t>Concurrency is handled through tuple-version MVCC, and obsolete row versions are later reclaimed by VACUUM.</a:t>
            </a:r>
            <a:endParaRPr lang="ko-KR" altLang="en-US" sz="1200" dirty="0">
              <a:solidFill>
                <a:schemeClr val="tx1"/>
              </a:solidFill>
              <a:latin typeface="ui-monospace"/>
            </a:endParaRPr>
          </a:p>
        </p:txBody>
      </p:sp>
      <p:sp>
        <p:nvSpPr>
          <p:cNvPr id="102" name="Text 4">
            <a:extLst>
              <a:ext uri="{FF2B5EF4-FFF2-40B4-BE49-F238E27FC236}">
                <a16:creationId xmlns:a16="http://schemas.microsoft.com/office/drawing/2014/main" id="{AA918A09-BDE5-2386-D2A1-EBD9B90EBB79}"/>
              </a:ext>
            </a:extLst>
          </p:cNvPr>
          <p:cNvSpPr/>
          <p:nvPr/>
        </p:nvSpPr>
        <p:spPr>
          <a:xfrm>
            <a:off x="3712232" y="1205316"/>
            <a:ext cx="2320796" cy="159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000" b="1" dirty="0"/>
              <a:t>1.</a:t>
            </a:r>
            <a:r>
              <a:rPr lang="ko-KR" altLang="en-US" sz="1000" b="1" dirty="0"/>
              <a:t> </a:t>
            </a:r>
            <a:r>
              <a:rPr lang="en-US" sz="1000" b="1" dirty="0"/>
              <a:t>Query Parsing</a:t>
            </a:r>
          </a:p>
        </p:txBody>
      </p:sp>
      <p:sp>
        <p:nvSpPr>
          <p:cNvPr id="103" name="Text 4">
            <a:extLst>
              <a:ext uri="{FF2B5EF4-FFF2-40B4-BE49-F238E27FC236}">
                <a16:creationId xmlns:a16="http://schemas.microsoft.com/office/drawing/2014/main" id="{31A5568C-7218-0BC0-5DC0-CC1E3FB0232C}"/>
              </a:ext>
            </a:extLst>
          </p:cNvPr>
          <p:cNvSpPr/>
          <p:nvPr/>
        </p:nvSpPr>
        <p:spPr>
          <a:xfrm>
            <a:off x="3712232" y="2251943"/>
            <a:ext cx="2320796" cy="159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/>
              <a:t>2.</a:t>
            </a:r>
            <a:r>
              <a:rPr lang="ko-KR" altLang="en-US" sz="1000" b="1" dirty="0"/>
              <a:t> </a:t>
            </a:r>
            <a:r>
              <a:rPr lang="en" altLang="ko-KR" sz="1000" b="1" dirty="0"/>
              <a:t>Query Rewrite / Planning</a:t>
            </a:r>
            <a:endParaRPr lang="en-US" sz="1000" b="1" dirty="0"/>
          </a:p>
        </p:txBody>
      </p:sp>
      <p:sp>
        <p:nvSpPr>
          <p:cNvPr id="104" name="Text 4">
            <a:extLst>
              <a:ext uri="{FF2B5EF4-FFF2-40B4-BE49-F238E27FC236}">
                <a16:creationId xmlns:a16="http://schemas.microsoft.com/office/drawing/2014/main" id="{093CAF33-DDBE-DC53-969B-D1861F2559EF}"/>
              </a:ext>
            </a:extLst>
          </p:cNvPr>
          <p:cNvSpPr/>
          <p:nvPr/>
        </p:nvSpPr>
        <p:spPr>
          <a:xfrm>
            <a:off x="3712232" y="3288060"/>
            <a:ext cx="2320796" cy="159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/>
              <a:t>3.</a:t>
            </a:r>
            <a:r>
              <a:rPr lang="ko-KR" altLang="en-US" sz="1000" b="1" dirty="0"/>
              <a:t> </a:t>
            </a:r>
            <a:r>
              <a:rPr lang="en" altLang="ko-KR" sz="1000" b="1" dirty="0"/>
              <a:t>Execution on Heap Storage</a:t>
            </a:r>
            <a:endParaRPr lang="en-US" sz="1000" b="1" dirty="0"/>
          </a:p>
        </p:txBody>
      </p:sp>
      <p:sp>
        <p:nvSpPr>
          <p:cNvPr id="105" name="Text 4">
            <a:extLst>
              <a:ext uri="{FF2B5EF4-FFF2-40B4-BE49-F238E27FC236}">
                <a16:creationId xmlns:a16="http://schemas.microsoft.com/office/drawing/2014/main" id="{00DA7B62-C625-EAC7-C180-C4B7933AF3CD}"/>
              </a:ext>
            </a:extLst>
          </p:cNvPr>
          <p:cNvSpPr/>
          <p:nvPr/>
        </p:nvSpPr>
        <p:spPr>
          <a:xfrm>
            <a:off x="3712232" y="4324176"/>
            <a:ext cx="2320796" cy="159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/>
              <a:t>4.</a:t>
            </a:r>
            <a:r>
              <a:rPr lang="ko-KR" altLang="en-US" sz="1000" b="1" dirty="0"/>
              <a:t> </a:t>
            </a:r>
            <a:r>
              <a:rPr lang="en" altLang="ko-KR" sz="1000" b="1" dirty="0"/>
              <a:t>MVCC and Cleanup</a:t>
            </a:r>
            <a:endParaRPr lang="en-US" sz="10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10927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2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the application does 1</a:t>
            </a:r>
            <a:r>
              <a:rPr lang="en-US" sz="2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Smurfing detection</a:t>
            </a:r>
            <a:endParaRPr lang="en-US" sz="2200" dirty="0"/>
          </a:p>
        </p:txBody>
      </p:sp>
      <p:sp>
        <p:nvSpPr>
          <p:cNvPr id="35" name="Shape 3">
            <a:extLst>
              <a:ext uri="{FF2B5EF4-FFF2-40B4-BE49-F238E27FC236}">
                <a16:creationId xmlns:a16="http://schemas.microsoft.com/office/drawing/2014/main" id="{799FF62D-F6E7-0982-939A-59D93815EADC}"/>
              </a:ext>
            </a:extLst>
          </p:cNvPr>
          <p:cNvSpPr/>
          <p:nvPr/>
        </p:nvSpPr>
        <p:spPr>
          <a:xfrm>
            <a:off x="6096000" y="4269822"/>
            <a:ext cx="5835962" cy="2036383"/>
          </a:xfrm>
          <a:prstGeom prst="roundRect">
            <a:avLst>
              <a:gd name="adj" fmla="val 2703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4">
            <a:extLst>
              <a:ext uri="{FF2B5EF4-FFF2-40B4-BE49-F238E27FC236}">
                <a16:creationId xmlns:a16="http://schemas.microsoft.com/office/drawing/2014/main" id="{B12F9029-153D-49F5-8A34-034107536A68}"/>
              </a:ext>
            </a:extLst>
          </p:cNvPr>
          <p:cNvSpPr/>
          <p:nvPr/>
        </p:nvSpPr>
        <p:spPr>
          <a:xfrm>
            <a:off x="6224016" y="4379550"/>
            <a:ext cx="5184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990000"/>
                </a:solidFill>
                <a:latin typeface="+mj-lt"/>
                <a:cs typeface="Arial" pitchFamily="34" charset="-120"/>
              </a:rPr>
              <a:t>Real-World Example</a:t>
            </a:r>
            <a:endParaRPr lang="en-US" sz="1400" dirty="0">
              <a:latin typeface="+mj-lt"/>
            </a:endParaRPr>
          </a:p>
        </p:txBody>
      </p:sp>
      <p:sp>
        <p:nvSpPr>
          <p:cNvPr id="37" name="Text 4">
            <a:extLst>
              <a:ext uri="{FF2B5EF4-FFF2-40B4-BE49-F238E27FC236}">
                <a16:creationId xmlns:a16="http://schemas.microsoft.com/office/drawing/2014/main" id="{EAF92ECF-C45C-57A9-C6B4-6C60A127C563}"/>
              </a:ext>
            </a:extLst>
          </p:cNvPr>
          <p:cNvSpPr/>
          <p:nvPr/>
        </p:nvSpPr>
        <p:spPr>
          <a:xfrm>
            <a:off x="6224015" y="4609516"/>
            <a:ext cx="5506033" cy="1696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" altLang="ko-KR" sz="1200" dirty="0"/>
              <a:t>Several small cash deposits were made into account </a:t>
            </a:r>
            <a:r>
              <a:rPr lang="en" altLang="ko-KR" sz="1200" b="1" dirty="0"/>
              <a:t>ACC-AML-HUB-001</a:t>
            </a:r>
            <a:r>
              <a:rPr lang="en" altLang="ko-KR" sz="1200" dirty="0"/>
              <a:t> on the same day, including </a:t>
            </a:r>
            <a:r>
              <a:rPr lang="en" altLang="ko-KR" sz="1200" b="1" dirty="0"/>
              <a:t>$8,940 at 09:05, $9,180 at 09:32, $9,420 at 10:04, $9,760 at 10:41, $9,860 at 11:18, and $9,640 at 11:54</a:t>
            </a:r>
            <a:r>
              <a:rPr lang="en" altLang="ko-KR" sz="1200" dirty="0"/>
              <a:t>. Although each deposit was made in a relatively small amount, together they totaled </a:t>
            </a:r>
            <a:r>
              <a:rPr lang="en" altLang="ko-KR" sz="1200" b="1" dirty="0"/>
              <a:t>$56,800 in one day</a:t>
            </a:r>
            <a:r>
              <a:rPr lang="en" altLang="ko-KR" sz="1200" dirty="0"/>
              <a:t>. Shortly afterward, the account sent a </a:t>
            </a:r>
            <a:r>
              <a:rPr lang="en" altLang="ko-KR" sz="1200" b="1" dirty="0"/>
              <a:t>wire transfer of $54,900</a:t>
            </a:r>
            <a:r>
              <a:rPr lang="en" altLang="ko-KR" sz="1200" dirty="0"/>
              <a:t> to </a:t>
            </a:r>
            <a:r>
              <a:rPr lang="en" altLang="ko-KR" sz="1200" b="1" dirty="0"/>
              <a:t>SHELL</a:t>
            </a:r>
            <a:r>
              <a:rPr lang="en" altLang="ko-KR" sz="1200" dirty="0"/>
              <a:t> at </a:t>
            </a:r>
            <a:r>
              <a:rPr lang="en" altLang="ko-KR" sz="1200" b="1" dirty="0"/>
              <a:t>13:10</a:t>
            </a:r>
            <a:r>
              <a:rPr lang="en" altLang="ko-KR" sz="1200" dirty="0"/>
              <a:t>. This pattern is suspicious because multiple sub-threshold deposits were quickly consolidated into one account and then transferred out within a short period of time, which is a common sign of </a:t>
            </a:r>
            <a:r>
              <a:rPr lang="en" altLang="ko-KR" sz="1200" b="1" dirty="0"/>
              <a:t>smurfing or structuring in money laundering</a:t>
            </a:r>
            <a:r>
              <a:rPr lang="en" altLang="ko-KR" sz="1200" dirty="0"/>
              <a:t>.</a:t>
            </a:r>
            <a:endParaRPr lang="en-US" sz="1200" dirty="0"/>
          </a:p>
        </p:txBody>
      </p:sp>
      <p:sp>
        <p:nvSpPr>
          <p:cNvPr id="38" name="Text 55">
            <a:extLst>
              <a:ext uri="{FF2B5EF4-FFF2-40B4-BE49-F238E27FC236}">
                <a16:creationId xmlns:a16="http://schemas.microsoft.com/office/drawing/2014/main" id="{9854E816-0D39-5498-20E4-593C723391CA}"/>
              </a:ext>
            </a:extLst>
          </p:cNvPr>
          <p:cNvSpPr/>
          <p:nvPr/>
        </p:nvSpPr>
        <p:spPr>
          <a:xfrm>
            <a:off x="10835640" y="645566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altLang="ko-KR" sz="7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700" dirty="0"/>
          </a:p>
        </p:txBody>
      </p:sp>
      <p:sp>
        <p:nvSpPr>
          <p:cNvPr id="45" name="Text 4">
            <a:extLst>
              <a:ext uri="{FF2B5EF4-FFF2-40B4-BE49-F238E27FC236}">
                <a16:creationId xmlns:a16="http://schemas.microsoft.com/office/drawing/2014/main" id="{55B487AD-85BF-88ED-5E32-7C9255C87B0C}"/>
              </a:ext>
            </a:extLst>
          </p:cNvPr>
          <p:cNvSpPr/>
          <p:nvPr/>
        </p:nvSpPr>
        <p:spPr>
          <a:xfrm>
            <a:off x="6224015" y="1167140"/>
            <a:ext cx="5184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chemeClr val="accent5"/>
                </a:solidFill>
                <a:latin typeface="+mj-lt"/>
                <a:cs typeface="Arial" pitchFamily="34" charset="-120"/>
              </a:rPr>
              <a:t>SQL Logic</a:t>
            </a:r>
            <a:endParaRPr lang="en-US" sz="1400" dirty="0">
              <a:solidFill>
                <a:schemeClr val="accent5"/>
              </a:solidFill>
              <a:latin typeface="+mj-lt"/>
            </a:endParaRPr>
          </a:p>
        </p:txBody>
      </p:sp>
      <p:sp>
        <p:nvSpPr>
          <p:cNvPr id="40" name="Text 40">
            <a:extLst>
              <a:ext uri="{FF2B5EF4-FFF2-40B4-BE49-F238E27FC236}">
                <a16:creationId xmlns:a16="http://schemas.microsoft.com/office/drawing/2014/main" id="{A7FA093C-BCE7-4148-CBB9-68BE3A604574}"/>
              </a:ext>
            </a:extLst>
          </p:cNvPr>
          <p:cNvSpPr/>
          <p:nvPr/>
        </p:nvSpPr>
        <p:spPr>
          <a:xfrm>
            <a:off x="701277" y="1271822"/>
            <a:ext cx="4459301" cy="59863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990000"/>
                </a:solidFill>
                <a:latin typeface="Arial" pitchFamily="34" charset="0"/>
                <a:cs typeface="Arial" pitchFamily="34" charset="-120"/>
              </a:rPr>
              <a:t>Smurfing Scenario Visual Explanation</a:t>
            </a:r>
            <a:endParaRPr lang="en-US" sz="1600" dirty="0"/>
          </a:p>
        </p:txBody>
      </p:sp>
      <p:pic>
        <p:nvPicPr>
          <p:cNvPr id="48" name="그림 47">
            <a:extLst>
              <a:ext uri="{FF2B5EF4-FFF2-40B4-BE49-F238E27FC236}">
                <a16:creationId xmlns:a16="http://schemas.microsoft.com/office/drawing/2014/main" id="{8A72D738-FE85-8AE6-2821-6E18F96C8F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9488" y="1423172"/>
            <a:ext cx="5937685" cy="2697191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24F60AD0-3B3C-4C41-4A16-A603F51651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255" y="1826914"/>
            <a:ext cx="5695831" cy="435562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>
            <a:extLst>
              <a:ext uri="{FF2B5EF4-FFF2-40B4-BE49-F238E27FC236}">
                <a16:creationId xmlns:a16="http://schemas.microsoft.com/office/drawing/2014/main" id="{6CD24AAC-6F76-BFC7-D012-5C103B8D2336}"/>
              </a:ext>
            </a:extLst>
          </p:cNvPr>
          <p:cNvSpPr/>
          <p:nvPr/>
        </p:nvSpPr>
        <p:spPr>
          <a:xfrm>
            <a:off x="585664" y="5144581"/>
            <a:ext cx="5473824" cy="1309551"/>
          </a:xfrm>
          <a:prstGeom prst="roundRect">
            <a:avLst>
              <a:gd name="adj" fmla="val 2703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99B74155-BF4D-A0D4-EB80-5058D9465241}"/>
              </a:ext>
            </a:extLst>
          </p:cNvPr>
          <p:cNvSpPr/>
          <p:nvPr/>
        </p:nvSpPr>
        <p:spPr>
          <a:xfrm>
            <a:off x="6184880" y="5158956"/>
            <a:ext cx="5473824" cy="1295176"/>
          </a:xfrm>
          <a:prstGeom prst="roundRect">
            <a:avLst>
              <a:gd name="adj" fmla="val 2703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10927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Query Explanation 1: Smurfing EXPLAIN analysis</a:t>
            </a:r>
            <a:endParaRPr lang="en-US" sz="2200" dirty="0"/>
          </a:p>
        </p:txBody>
      </p:sp>
      <p:sp>
        <p:nvSpPr>
          <p:cNvPr id="57" name="Text 55"/>
          <p:cNvSpPr/>
          <p:nvPr/>
        </p:nvSpPr>
        <p:spPr>
          <a:xfrm>
            <a:off x="10835640" y="645566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700" dirty="0"/>
          </a:p>
        </p:txBody>
      </p:sp>
      <p:sp>
        <p:nvSpPr>
          <p:cNvPr id="67" name="Text 40">
            <a:extLst>
              <a:ext uri="{FF2B5EF4-FFF2-40B4-BE49-F238E27FC236}">
                <a16:creationId xmlns:a16="http://schemas.microsoft.com/office/drawing/2014/main" id="{628DF8D6-340D-57E7-4C1F-5B3C7A58C0C1}"/>
              </a:ext>
            </a:extLst>
          </p:cNvPr>
          <p:cNvSpPr/>
          <p:nvPr/>
        </p:nvSpPr>
        <p:spPr>
          <a:xfrm>
            <a:off x="6177847" y="530843"/>
            <a:ext cx="4214039" cy="469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990000"/>
                </a:solidFill>
                <a:latin typeface="Arial" pitchFamily="34" charset="0"/>
                <a:cs typeface="Arial" pitchFamily="34" charset="-120"/>
              </a:rPr>
              <a:t>APACHE AGE Execution EXPLAIN</a:t>
            </a:r>
          </a:p>
        </p:txBody>
      </p:sp>
      <p:sp>
        <p:nvSpPr>
          <p:cNvPr id="68" name="Text 40">
            <a:extLst>
              <a:ext uri="{FF2B5EF4-FFF2-40B4-BE49-F238E27FC236}">
                <a16:creationId xmlns:a16="http://schemas.microsoft.com/office/drawing/2014/main" id="{3A6BD42D-E6C9-1540-786F-6A9D12C6B052}"/>
              </a:ext>
            </a:extLst>
          </p:cNvPr>
          <p:cNvSpPr/>
          <p:nvPr/>
        </p:nvSpPr>
        <p:spPr>
          <a:xfrm>
            <a:off x="585664" y="530845"/>
            <a:ext cx="4375219" cy="469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chemeClr val="accent1"/>
                </a:solidFill>
                <a:latin typeface="Arial" pitchFamily="34" charset="0"/>
                <a:cs typeface="Arial" pitchFamily="34" charset="-120"/>
              </a:rPr>
              <a:t>PostgreSQL SQL Execution EXPLAIN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640080" y="1185887"/>
            <a:ext cx="521208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Arial"/>
              </a:rPr>
              <a:t>1. Seq Scan on public.transactions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Filter: tx_type='deposit' AND channel='cash'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cost=0..59.44  rows=105  Buffers=31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picks out small cash deposits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40080" y="1953983"/>
            <a:ext cx="521208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Arial"/>
              </a:rPr>
              <a:t>2. Sort → GroupAggregate on public.transactions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Keys: to_account_id, date_trunc(day, tx_time)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count(*) / sum(amount) / min / max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HAVING count≥5 AND sum≥45,000   rows=9 / 60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40080" y="2722079"/>
            <a:ext cx="521208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Arial"/>
              </a:rPr>
              <a:t>3. Index Scan on public.transactions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idx_transactions_from_account_time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Cond: from_account_id = deposit-beneficiary AND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tx_time within 24h funnel window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Filter: tx_type='transfer' AND amount≥0.70·Σ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40080" y="3490175"/>
            <a:ext cx="521208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Arial"/>
              </a:rPr>
              <a:t>4. Nested Loop × 4 on public.accounts &amp; public.customers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accounts_pkey  →  customers_pkey  (Inner Unique)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beneficiary account + customer,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shell account + customer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cost=60.96..69.46   Buffers=169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40080" y="4258272"/>
            <a:ext cx="521208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Arial"/>
              </a:rPr>
              <a:t>5. Sort (final)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Sort Key: sum(amount) DESC, out_tx.tx_time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rows=9   Execution Time ≈ 0.99 ms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236208" y="1016722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1. Seq Scan on aml_graph."TRANSFER"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Filter: agtype tx_type='deposit' AND channel='cash'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cost=0..93.92  rows=105  Buffers=56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deposit edges only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236208" y="1613694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2. Index Only Scan on aml_graph."Account"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Account_pkey   Cond: id = TRANSFER.start_id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Inner Unique   loops=105  Heap Fetches=105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Buffers=210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236208" y="2210667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3. Sort → GroupAggregate on aml_graph."TRANSFER"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agtype_access_operator extracts amount / tx_time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grouped by Account.account_id, day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HAVING count≥5 AND sum≥45,000   rows=9  Buffers=518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236208" y="2807639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4. Hash Join on aml_graph."Account" ⋈ deposit groups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Seq Scan aml_graph."Account" (369 rows, 474 kB)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Hash Cond: Account.account_id = beneficiary_id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236208" y="3404612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5. Index Scan on aml_graph."TRANSFER" (outbound)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TRANSFER_start_id_idx  Cond: start_id = Account.id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Nested Loop  Filter: time window AND amt≥0.70·Σ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then Index Scan aml_graph."Account" (dst)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236208" y="4001584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6. Nested Loop × 3 on public.accounts &amp; public.customers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accounts_pkey → customers_pkey   (agtype → text cast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on every edge) for beneficiary and shell sides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loops=9   Buffers=629..683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236208" y="4598557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7. Sort (final)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Sort Key: structured_total DESC, tx_time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rows=9   Execution Time ≈ 5.86 ms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40080" y="1185887"/>
            <a:ext cx="521208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Arial"/>
              </a:rPr>
              <a:t>1. Seq Scan on public.transactions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Filter: tx_type='deposit' AND channel='cash'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cost=0..59.44  rows=105  Buffers=31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picks out small cash deposits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40080" y="1953983"/>
            <a:ext cx="521208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Arial"/>
              </a:rPr>
              <a:t>2. Sort → GroupAggregate on public.transactions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Keys: to_account_id, date_trunc(day, tx_time)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count(*) / sum(amount) / min / max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HAVING count≥5 AND sum≥45,000   rows=9 / 60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40080" y="2722079"/>
            <a:ext cx="521208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Arial"/>
              </a:rPr>
              <a:t>3. Index Scan on public.transactions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idx_transactions_from_account_time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Cond: from_account_id = deposit-beneficiary AND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tx_time within 24h funnel window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Filter: tx_type='transfer' AND amount≥0.70·Σ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40080" y="3490175"/>
            <a:ext cx="521208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Arial"/>
              </a:rPr>
              <a:t>4. Nested Loop × 4 on public.accounts &amp; public.customers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accounts_pkey  →  customers_pkey  (Inner Unique)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beneficiary account + customer,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shell account + customer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cost=60.96..69.46   Buffers=169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40080" y="4258272"/>
            <a:ext cx="521208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Arial"/>
              </a:rPr>
              <a:t>5. Sort (final)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Sort Key: sum(amount) DESC, out_tx.tx_time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rows=9   Execution Time ≈ 0.99 ms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6236208" y="1016722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1. Seq Scan on aml_graph."TRANSFER"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Filter: agtype tx_type='deposit' AND channel='cash'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cost=0..93.92  rows=105  Buffers=56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deposit edges only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236208" y="1613694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2. Index Only Scan on aml_graph."Account"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Account_pkey   Cond: id = TRANSFER.start_id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Inner Unique   loops=105  Heap Fetches=105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Buffers=210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6236208" y="2210667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3. Sort → GroupAggregate on aml_graph."TRANSFER"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agtype_access_operator extracts amount / tx_time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grouped by Account.account_id, day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HAVING count≥5 AND sum≥45,000   rows=9  Buffers=518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236208" y="2807639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4. Hash Join on aml_graph."Account" ⋈ deposit groups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Seq Scan aml_graph."Account" (369 rows, 474 kB)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Hash Cond: Account.account_id = beneficiary_id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6236208" y="3404612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5. Index Scan on aml_graph."TRANSFER" (outbound)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TRANSFER_start_id_idx  Cond: start_id = Account.id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Nested Loop  Filter: time window AND amt≥0.70·Σ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then Index Scan aml_graph."Account" (dst)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6236208" y="4001584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6. Nested Loop × 3 on public.accounts &amp; public.customers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accounts_pkey → customers_pkey   (agtype → text cast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on every edge) for beneficiary and shell sides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loops=9   Buffers=629..683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6236208" y="4598557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7. Sort (final)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Sort Key: structured_total DESC, tx_time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rows=9   Execution Time ≈ 5.86 ms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640080" y="1185887"/>
            <a:ext cx="521208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Arial"/>
              </a:rPr>
              <a:t>1. Seq Scan on public.transactions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Filter: tx_type='deposit' AND channel='cash'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cost=0..59.44  rows=105  Buffers=31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picks out small cash deposits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640080" y="1953983"/>
            <a:ext cx="521208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Arial"/>
              </a:rPr>
              <a:t>2. Sort → GroupAggregate on public.transactions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Keys: to_account_id, date_trunc(day, tx_time)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count(*) / sum(amount) / min / max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HAVING count≥5 AND sum≥45,000   rows=9 / 60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640080" y="2722079"/>
            <a:ext cx="521208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Arial"/>
              </a:rPr>
              <a:t>3. Index Scan on public.transactions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idx_transactions_from_account_time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Cond: from_account_id = deposit-beneficiary AND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tx_time within 24h funnel window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Filter: tx_type='transfer' AND amount≥0.70·Σ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640080" y="3490175"/>
            <a:ext cx="521208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Arial"/>
              </a:rPr>
              <a:t>4. Nested Loop × 4 on public.accounts &amp; public.customers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accounts_pkey  →  customers_pkey  (Inner Unique)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beneficiary account + customer,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shell account + customer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cost=60.96..69.46   Buffers=169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640080" y="4258272"/>
            <a:ext cx="521208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Arial"/>
              </a:rPr>
              <a:t>5. Sort (final)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Sort Key: sum(amount) DESC, out_tx.tx_time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rows=9   Execution Time ≈ 0.99 ms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236208" y="1016722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1. Seq Scan on aml_graph."TRANSFER"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Filter: agtype tx_type='deposit' AND channel='cash'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cost=0..93.92  rows=105  Buffers=56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deposit edges only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6236208" y="1613694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2. Index Only Scan on aml_graph."Account"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Account_pkey   Cond: id = TRANSFER.start_id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Inner Unique   loops=105  Heap Fetches=105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Buffers=210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6236208" y="2210667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3. Sort → GroupAggregate on aml_graph."TRANSFER"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agtype_access_operator extracts amount / tx_time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grouped by Account.account_id, day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HAVING count≥5 AND sum≥45,000   rows=9  Buffers=518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6236208" y="2807639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4. Hash Join on aml_graph."Account" ⋈ deposit groups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Seq Scan aml_graph."Account" (369 rows, 474 kB)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Hash Cond: Account.account_id = beneficiary_id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6236208" y="3404612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5. Index Scan on aml_graph."TRANSFER" (outbound)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TRANSFER_start_id_idx  Cond: start_id = Account.id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Nested Loop  Filter: time window AND amt≥0.70·Σ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then Index Scan aml_graph."Account" (dst)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6236208" y="4001584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6. Nested Loop × 3 on public.accounts &amp; public.customers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accounts_pkey → customers_pkey   (agtype → text cast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on every edge) for beneficiary and shell sides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loops=9   Buffers=629..683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6236208" y="4598557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7. Sort (final)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Sort Key: structured_total DESC, tx_time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rows=9   Execution Time ≈ 5.86 ms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640080" y="1185887"/>
            <a:ext cx="521208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Arial"/>
              </a:rPr>
              <a:t>1. Seq Scan on public.transactions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Filter: tx_type='deposit' AND channel='cash'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cost=0..59.44  rows=105  Buffers=31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picks out small cash deposits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640080" y="1953983"/>
            <a:ext cx="521208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Arial"/>
              </a:rPr>
              <a:t>2. Sort → GroupAggregate on public.transactions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Keys: to_account_id, date_trunc(day, tx_time)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count(*) / sum(amount) / min / max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HAVING count≥5 AND sum≥45,000   rows=9 / 60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640080" y="2722079"/>
            <a:ext cx="521208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Arial"/>
              </a:rPr>
              <a:t>3. Index Scan on public.transactions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idx_transactions_from_account_time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Cond: from_account_id = deposit-beneficiary AND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tx_time within 24h funnel window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Filter: tx_type='transfer' AND amount≥0.70·Σ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640080" y="3490175"/>
            <a:ext cx="521208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Arial"/>
              </a:rPr>
              <a:t>4. Nested Loop × 4 on public.accounts &amp; public.customers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accounts_pkey  →  customers_pkey  (Inner Unique)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beneficiary account + customer,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shell account + customer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cost=60.96..69.46   Buffers=169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640080" y="4258272"/>
            <a:ext cx="521208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Arial"/>
              </a:rPr>
              <a:t>5. Sort (final)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Sort Key: sum(amount) DESC, out_tx.tx_time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rows=9   Execution Time ≈ 0.99 ms</a:t>
            </a:r>
          </a:p>
        </p:txBody>
      </p:sp>
      <p:cxnSp>
        <p:nvCxnSpPr>
          <p:cNvPr id="122" name="Connector 121"/>
          <p:cNvCxnSpPr/>
          <p:nvPr/>
        </p:nvCxnSpPr>
        <p:spPr>
          <a:xfrm>
            <a:off x="3246120" y="1844256"/>
            <a:ext cx="0" cy="109727"/>
          </a:xfrm>
          <a:prstGeom prst="bentConnector3">
            <a:avLst/>
          </a:prstGeom>
          <a:ln w="158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3246120" y="2612352"/>
            <a:ext cx="0" cy="109727"/>
          </a:xfrm>
          <a:prstGeom prst="bentConnector3">
            <a:avLst/>
          </a:prstGeom>
          <a:ln w="158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3246120" y="3380447"/>
            <a:ext cx="0" cy="109728"/>
          </a:xfrm>
          <a:prstGeom prst="bentConnector3">
            <a:avLst/>
          </a:prstGeom>
          <a:ln w="158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3246120" y="4148543"/>
            <a:ext cx="0" cy="109729"/>
          </a:xfrm>
          <a:prstGeom prst="bentConnector3">
            <a:avLst/>
          </a:prstGeom>
          <a:ln w="158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Rounded Rectangle 125"/>
          <p:cNvSpPr/>
          <p:nvPr/>
        </p:nvSpPr>
        <p:spPr>
          <a:xfrm>
            <a:off x="6236208" y="1016722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1. Seq Scan on aml_graph."TRANSFER"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Filter: agtype tx_type='deposit' AND channel='cash'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cost=0..93.92  rows=105  Buffers=56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deposit edges only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6236208" y="1613694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2. Index Only Scan on aml_graph."Account"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Account_pkey   Cond: id = TRANSFER.start_id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Inner Unique   loops=105  Heap Fetches=105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Buffers=210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6236208" y="2210667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3. Sort → GroupAggregate on aml_graph."TRANSFER"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agtype_access_operator extracts amount / tx_time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grouped by Account.account_id, day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HAVING count≥5 AND sum≥45,000   rows=9  Buffers=518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6236208" y="2807639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4. Hash Join on aml_graph."Account" ⋈ deposit groups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Seq Scan aml_graph."Account" (369 rows, 474 kB)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Hash Cond: Account.account_id = beneficiary_id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6236208" y="3404612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5. Index Scan on aml_graph."TRANSFER" (outbound)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TRANSFER_start_id_idx  Cond: start_id = Account.id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Nested Loop  Filter: time window AND amt≥0.70·Σ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then Index Scan aml_graph."Account" (dst)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6236208" y="4001584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6. Nested Loop × 3 on public.accounts &amp; public.customers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accounts_pkey → customers_pkey   (agtype → text cast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on every edge) for beneficiary and shell sides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loops=9   Buffers=629..683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6236208" y="4598557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7. Sort (final)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Sort Key: structured_total DESC, tx_time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rows=9   Execution Time ≈ 5.86 ms</a:t>
            </a:r>
          </a:p>
        </p:txBody>
      </p:sp>
      <p:cxnSp>
        <p:nvCxnSpPr>
          <p:cNvPr id="133" name="Connector 132"/>
          <p:cNvCxnSpPr/>
          <p:nvPr/>
        </p:nvCxnSpPr>
        <p:spPr>
          <a:xfrm>
            <a:off x="8842248" y="1503966"/>
            <a:ext cx="0" cy="109728"/>
          </a:xfrm>
          <a:prstGeom prst="bentConnector3">
            <a:avLst/>
          </a:prstGeom>
          <a:ln w="15875">
            <a:solidFill>
              <a:srgbClr val="99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8842248" y="2100939"/>
            <a:ext cx="0" cy="109728"/>
          </a:xfrm>
          <a:prstGeom prst="bentConnector3">
            <a:avLst/>
          </a:prstGeom>
          <a:ln w="15875">
            <a:solidFill>
              <a:srgbClr val="99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8842248" y="2697911"/>
            <a:ext cx="0" cy="109728"/>
          </a:xfrm>
          <a:prstGeom prst="bentConnector3">
            <a:avLst/>
          </a:prstGeom>
          <a:ln w="15875">
            <a:solidFill>
              <a:srgbClr val="99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8842248" y="3294884"/>
            <a:ext cx="0" cy="109728"/>
          </a:xfrm>
          <a:prstGeom prst="bentConnector3">
            <a:avLst/>
          </a:prstGeom>
          <a:ln w="15875">
            <a:solidFill>
              <a:srgbClr val="99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8842248" y="3891856"/>
            <a:ext cx="0" cy="109728"/>
          </a:xfrm>
          <a:prstGeom prst="bentConnector3">
            <a:avLst/>
          </a:prstGeom>
          <a:ln w="15875">
            <a:solidFill>
              <a:srgbClr val="99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8842248" y="4488829"/>
            <a:ext cx="0" cy="109728"/>
          </a:xfrm>
          <a:prstGeom prst="bentConnector3">
            <a:avLst/>
          </a:prstGeom>
          <a:ln w="15875">
            <a:solidFill>
              <a:srgbClr val="99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TextBox 138"/>
          <p:cNvSpPr txBox="1"/>
          <p:nvPr/>
        </p:nvSpPr>
        <p:spPr>
          <a:xfrm>
            <a:off x="667512" y="5155468"/>
            <a:ext cx="5349240" cy="126803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lang="en" altLang="ko-KR" sz="1000" b="1" dirty="0">
                <a:solidFill>
                  <a:srgbClr val="990000"/>
                </a:solidFill>
                <a:latin typeface="Arial"/>
              </a:rPr>
              <a:t>What the database does internally</a:t>
            </a:r>
            <a:endParaRPr sz="1000" b="1" dirty="0">
              <a:solidFill>
                <a:srgbClr val="990000"/>
              </a:solidFill>
              <a:latin typeface="Arial"/>
            </a:endParaRPr>
          </a:p>
          <a:p>
            <a:r>
              <a:rPr lang="en" altLang="ko-KR" sz="1000" b="1" dirty="0">
                <a:effectLst/>
              </a:rPr>
              <a:t>Seq Scan</a:t>
            </a:r>
            <a:r>
              <a:rPr lang="en" altLang="ko-KR" sz="1000" dirty="0">
                <a:effectLst/>
              </a:rPr>
              <a:t> on </a:t>
            </a:r>
            <a:r>
              <a:rPr lang="en" altLang="ko-KR" sz="1000" dirty="0" err="1">
                <a:effectLst/>
              </a:rPr>
              <a:t>public.transactions</a:t>
            </a:r>
            <a:r>
              <a:rPr lang="en" altLang="ko-KR" sz="1000" dirty="0">
                <a:effectLst/>
              </a:rPr>
              <a:t> picks </a:t>
            </a:r>
            <a:r>
              <a:rPr lang="en" altLang="ko-KR" sz="1000" b="1" dirty="0">
                <a:effectLst/>
              </a:rPr>
              <a:t>small cash deposits</a:t>
            </a:r>
            <a:r>
              <a:rPr lang="en" altLang="ko-KR" sz="1000" dirty="0">
                <a:effectLst/>
              </a:rPr>
              <a:t> (</a:t>
            </a:r>
            <a:r>
              <a:rPr lang="en" altLang="ko-KR" sz="1000" dirty="0" err="1">
                <a:effectLst/>
              </a:rPr>
              <a:t>tx_type</a:t>
            </a:r>
            <a:r>
              <a:rPr lang="en" altLang="ko-KR" sz="1000" dirty="0">
                <a:effectLst/>
              </a:rPr>
              <a:t>='deposit', channel='cash'). </a:t>
            </a:r>
            <a:r>
              <a:rPr lang="en" altLang="ko-KR" sz="1000" b="1" dirty="0">
                <a:effectLst/>
              </a:rPr>
              <a:t>Sort → </a:t>
            </a:r>
            <a:r>
              <a:rPr lang="en" altLang="ko-KR" sz="1000" b="1" dirty="0" err="1">
                <a:effectLst/>
              </a:rPr>
              <a:t>GroupAggregate</a:t>
            </a:r>
            <a:r>
              <a:rPr lang="en" altLang="ko-KR" sz="1000" dirty="0">
                <a:effectLst/>
              </a:rPr>
              <a:t> by </a:t>
            </a:r>
            <a:r>
              <a:rPr lang="en" altLang="ko-KR" sz="1000" b="1" dirty="0">
                <a:effectLst/>
              </a:rPr>
              <a:t>beneficiary account + day</a:t>
            </a:r>
            <a:r>
              <a:rPr lang="en" altLang="ko-KR" sz="1000" dirty="0">
                <a:effectLst/>
              </a:rPr>
              <a:t>, keeping </a:t>
            </a:r>
            <a:r>
              <a:rPr lang="en" altLang="ko-KR" sz="1000" b="1" dirty="0">
                <a:effectLst/>
              </a:rPr>
              <a:t>clusters ≥ 5 deposits</a:t>
            </a:r>
            <a:r>
              <a:rPr lang="en" altLang="ko-KR" sz="1000" dirty="0">
                <a:effectLst/>
              </a:rPr>
              <a:t> </a:t>
            </a:r>
            <a:r>
              <a:rPr lang="en" altLang="ko-KR" sz="1000" dirty="0" err="1">
                <a:effectLst/>
              </a:rPr>
              <a:t>totalling</a:t>
            </a:r>
            <a:r>
              <a:rPr lang="en" altLang="ko-KR" sz="1000" dirty="0">
                <a:effectLst/>
              </a:rPr>
              <a:t> </a:t>
            </a:r>
            <a:r>
              <a:rPr lang="en" altLang="ko-KR" sz="1000" b="1" dirty="0">
                <a:effectLst/>
              </a:rPr>
              <a:t>≥ $45,000</a:t>
            </a:r>
            <a:r>
              <a:rPr lang="en" altLang="ko-KR" sz="1000" dirty="0">
                <a:effectLst/>
              </a:rPr>
              <a:t>. For each cluster, </a:t>
            </a:r>
            <a:r>
              <a:rPr lang="en" altLang="ko-KR" sz="1000" b="1" dirty="0">
                <a:effectLst/>
              </a:rPr>
              <a:t>Index Scan</a:t>
            </a:r>
            <a:r>
              <a:rPr lang="en" altLang="ko-KR" sz="1000" dirty="0">
                <a:effectLst/>
              </a:rPr>
              <a:t> on </a:t>
            </a:r>
            <a:r>
              <a:rPr lang="en" altLang="ko-KR" sz="1000" dirty="0" err="1">
                <a:effectLst/>
              </a:rPr>
              <a:t>idx_transactions_from_account_time</a:t>
            </a:r>
            <a:r>
              <a:rPr lang="en" altLang="ko-KR" sz="1000" dirty="0">
                <a:effectLst/>
              </a:rPr>
              <a:t> finds an </a:t>
            </a:r>
            <a:r>
              <a:rPr lang="en" altLang="ko-KR" sz="1000" b="1" dirty="0">
                <a:effectLst/>
              </a:rPr>
              <a:t>outbound wire</a:t>
            </a:r>
            <a:r>
              <a:rPr lang="en" altLang="ko-KR" sz="1000" dirty="0">
                <a:effectLst/>
              </a:rPr>
              <a:t> within a </a:t>
            </a:r>
            <a:r>
              <a:rPr lang="en" altLang="ko-KR" sz="1000" b="1" dirty="0">
                <a:effectLst/>
              </a:rPr>
              <a:t>24-hour funnel window</a:t>
            </a:r>
            <a:r>
              <a:rPr lang="en" altLang="ko-KR" sz="1000" dirty="0">
                <a:effectLst/>
              </a:rPr>
              <a:t> carrying </a:t>
            </a:r>
            <a:r>
              <a:rPr lang="en" altLang="ko-KR" sz="1000" b="1" dirty="0">
                <a:effectLst/>
              </a:rPr>
              <a:t>≥ 70% of the deposited sum</a:t>
            </a:r>
            <a:r>
              <a:rPr lang="en" altLang="ko-KR" sz="1000" dirty="0">
                <a:effectLst/>
              </a:rPr>
              <a:t>. </a:t>
            </a:r>
            <a:r>
              <a:rPr lang="en" altLang="ko-KR" sz="1000" b="1" dirty="0">
                <a:effectLst/>
              </a:rPr>
              <a:t>Four Nested Loop joins</a:t>
            </a:r>
            <a:r>
              <a:rPr lang="en" altLang="ko-KR" sz="1000" dirty="0">
                <a:effectLst/>
              </a:rPr>
              <a:t> with </a:t>
            </a:r>
            <a:r>
              <a:rPr lang="en" altLang="ko-KR" sz="1000" dirty="0" err="1">
                <a:effectLst/>
              </a:rPr>
              <a:t>public.accounts</a:t>
            </a:r>
            <a:r>
              <a:rPr lang="en" altLang="ko-KR" sz="1000" dirty="0">
                <a:effectLst/>
              </a:rPr>
              <a:t> + </a:t>
            </a:r>
            <a:r>
              <a:rPr lang="en" altLang="ko-KR" sz="1000" dirty="0" err="1">
                <a:effectLst/>
              </a:rPr>
              <a:t>public.customers</a:t>
            </a:r>
            <a:r>
              <a:rPr lang="en" altLang="ko-KR" sz="1000" dirty="0">
                <a:effectLst/>
              </a:rPr>
              <a:t> add customer names (beneficiary + shell). </a:t>
            </a:r>
            <a:r>
              <a:rPr lang="en" altLang="ko-KR" sz="1000" b="1" dirty="0">
                <a:effectLst/>
              </a:rPr>
              <a:t>Final Sort</a:t>
            </a:r>
            <a:r>
              <a:rPr lang="en" altLang="ko-KR" sz="1000" dirty="0">
                <a:effectLst/>
              </a:rPr>
              <a:t> by </a:t>
            </a:r>
            <a:r>
              <a:rPr lang="en" altLang="ko-KR" sz="1000" dirty="0" err="1">
                <a:effectLst/>
              </a:rPr>
              <a:t>structured_total</a:t>
            </a:r>
            <a:r>
              <a:rPr lang="en" altLang="ko-KR" sz="1000" dirty="0">
                <a:effectLst/>
              </a:rPr>
              <a:t>. Result: </a:t>
            </a:r>
            <a:r>
              <a:rPr lang="en" altLang="ko-KR" sz="1000" b="1" dirty="0">
                <a:effectLst/>
              </a:rPr>
              <a:t>9 hits in ≈ 0.99 </a:t>
            </a:r>
            <a:r>
              <a:rPr lang="en" altLang="ko-KR" sz="1000" b="1" dirty="0" err="1">
                <a:effectLst/>
              </a:rPr>
              <a:t>ms</a:t>
            </a:r>
            <a:r>
              <a:rPr lang="en" altLang="ko-KR" sz="1000" b="1" dirty="0">
                <a:effectLst/>
              </a:rPr>
              <a:t> / 169 shared buffers</a:t>
            </a:r>
            <a:r>
              <a:rPr lang="en" altLang="ko-KR" sz="1000" dirty="0">
                <a:effectLst/>
              </a:rPr>
              <a:t>.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220096" y="5166355"/>
            <a:ext cx="5386240" cy="1126975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lang="en" altLang="ko-KR" sz="1000" b="1" dirty="0">
                <a:solidFill>
                  <a:srgbClr val="990000"/>
                </a:solidFill>
                <a:latin typeface="Arial"/>
              </a:rPr>
              <a:t>What the database does internally</a:t>
            </a:r>
            <a:endParaRPr sz="1000" b="1" dirty="0">
              <a:solidFill>
                <a:srgbClr val="990000"/>
              </a:solidFill>
              <a:latin typeface="Arial"/>
            </a:endParaRPr>
          </a:p>
          <a:p>
            <a:pPr algn="l">
              <a:spcBef>
                <a:spcPts val="100"/>
              </a:spcBef>
            </a:pPr>
            <a:r>
              <a:rPr lang="en" altLang="ko-KR" sz="1000" dirty="0"/>
              <a:t>Same rule on </a:t>
            </a:r>
            <a:r>
              <a:rPr lang="en" altLang="ko-KR" sz="1000" dirty="0" err="1"/>
              <a:t>aml_graph."TRANSFER</a:t>
            </a:r>
            <a:r>
              <a:rPr lang="en" altLang="ko-KR" sz="1000" dirty="0"/>
              <a:t>" edges, but every </a:t>
            </a:r>
            <a:r>
              <a:rPr lang="en" altLang="ko-KR" sz="1000" b="1" dirty="0"/>
              <a:t>amount/</a:t>
            </a:r>
            <a:r>
              <a:rPr lang="en" altLang="ko-KR" sz="1000" b="1" dirty="0" err="1"/>
              <a:t>tx_time</a:t>
            </a:r>
            <a:r>
              <a:rPr lang="en" altLang="ko-KR" sz="1000" dirty="0"/>
              <a:t> is unwrapped via </a:t>
            </a:r>
            <a:r>
              <a:rPr lang="en" altLang="ko-KR" sz="1000" b="1" dirty="0" err="1"/>
              <a:t>agtype_access_operator</a:t>
            </a:r>
            <a:r>
              <a:rPr lang="en" altLang="ko-KR" sz="1000" dirty="0"/>
              <a:t> and </a:t>
            </a:r>
            <a:r>
              <a:rPr lang="en" altLang="ko-KR" sz="1000" b="1" dirty="0"/>
              <a:t>cast from </a:t>
            </a:r>
            <a:r>
              <a:rPr lang="en" altLang="ko-KR" sz="1000" b="1" dirty="0" err="1"/>
              <a:t>agtype</a:t>
            </a:r>
            <a:r>
              <a:rPr lang="en" altLang="ko-KR" sz="1000" b="1" dirty="0"/>
              <a:t> → Postgres type</a:t>
            </a:r>
            <a:r>
              <a:rPr lang="en" altLang="ko-KR" sz="1000" dirty="0"/>
              <a:t> on every row. After grouping deposits by beneficiary vertex, a </a:t>
            </a:r>
            <a:r>
              <a:rPr lang="en" altLang="ko-KR" sz="1000" b="1" dirty="0"/>
              <a:t>Hash Join</a:t>
            </a:r>
            <a:r>
              <a:rPr lang="en" altLang="ko-KR" sz="1000" dirty="0"/>
              <a:t> back against </a:t>
            </a:r>
            <a:r>
              <a:rPr lang="en" altLang="ko-KR" sz="1000" dirty="0" err="1"/>
              <a:t>aml_graph."Account</a:t>
            </a:r>
            <a:r>
              <a:rPr lang="en" altLang="ko-KR" sz="1000" dirty="0"/>
              <a:t>" binds the beneficiary </a:t>
            </a:r>
            <a:r>
              <a:rPr lang="en" altLang="ko-KR" sz="1000" b="1" dirty="0"/>
              <a:t>before the outbound TRANSFER lookup</a:t>
            </a:r>
            <a:r>
              <a:rPr lang="en" altLang="ko-KR" sz="1000" dirty="0"/>
              <a:t>, then </a:t>
            </a:r>
            <a:r>
              <a:rPr lang="en" altLang="ko-KR" sz="1000" b="1" dirty="0"/>
              <a:t>three more Nested Loop joins</a:t>
            </a:r>
            <a:r>
              <a:rPr lang="en" altLang="ko-KR" sz="1000" dirty="0"/>
              <a:t> with </a:t>
            </a:r>
            <a:r>
              <a:rPr lang="en" altLang="ko-KR" sz="1000" dirty="0" err="1"/>
              <a:t>public.accounts</a:t>
            </a:r>
            <a:r>
              <a:rPr lang="en" altLang="ko-KR" sz="1000" dirty="0"/>
              <a:t> + </a:t>
            </a:r>
            <a:r>
              <a:rPr lang="en" altLang="ko-KR" sz="1000" dirty="0" err="1"/>
              <a:t>public.customers</a:t>
            </a:r>
            <a:r>
              <a:rPr lang="en" altLang="ko-KR" sz="1000" dirty="0"/>
              <a:t> recover typed PK values. Extra casts + vertex bindings push it to </a:t>
            </a:r>
            <a:r>
              <a:rPr lang="en" altLang="ko-KR" sz="1000" b="1" dirty="0"/>
              <a:t>≈ 5.86 </a:t>
            </a:r>
            <a:r>
              <a:rPr lang="en" altLang="ko-KR" sz="1000" b="1" dirty="0" err="1"/>
              <a:t>ms</a:t>
            </a:r>
            <a:r>
              <a:rPr lang="en" altLang="ko-KR" sz="1000" b="1" dirty="0"/>
              <a:t> / 689 shared buffers </a:t>
            </a:r>
            <a:endParaRPr sz="900" dirty="0">
              <a:solidFill>
                <a:srgbClr val="1A1A1A"/>
              </a:solidFill>
              <a:latin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6DC03B-2FD3-2715-FC7D-9BA52107B999}"/>
              </a:ext>
            </a:extLst>
          </p:cNvPr>
          <p:cNvSpPr txBox="1"/>
          <p:nvPr/>
        </p:nvSpPr>
        <p:spPr>
          <a:xfrm>
            <a:off x="3199094" y="6494636"/>
            <a:ext cx="5727191" cy="1985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450"/>
              </a:spcAft>
            </a:pPr>
            <a:r>
              <a:rPr lang="en" altLang="ko-KR" sz="1050" b="1" i="0" dirty="0">
                <a:solidFill>
                  <a:srgbClr val="002060"/>
                </a:solidFill>
                <a:effectLst/>
              </a:rPr>
              <a:t>Why it matters: </a:t>
            </a:r>
            <a:r>
              <a:rPr lang="en" altLang="ko-KR" sz="1050" i="0" dirty="0">
                <a:solidFill>
                  <a:srgbClr val="002060"/>
                </a:solidFill>
                <a:effectLst/>
              </a:rPr>
              <a:t>AGE adds graph-layer work before the same result is produced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10927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the application does 2: Circular trading detection</a:t>
            </a:r>
            <a:endParaRPr lang="en-US" sz="2200" dirty="0"/>
          </a:p>
        </p:txBody>
      </p:sp>
      <p:sp>
        <p:nvSpPr>
          <p:cNvPr id="29" name="Shape 26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/>
          <p:nvPr/>
        </p:nvSpPr>
        <p:spPr>
          <a:xfrm>
            <a:off x="10835640" y="645566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700" dirty="0"/>
          </a:p>
        </p:txBody>
      </p:sp>
      <p:sp>
        <p:nvSpPr>
          <p:cNvPr id="33" name="Shape 3">
            <a:extLst>
              <a:ext uri="{FF2B5EF4-FFF2-40B4-BE49-F238E27FC236}">
                <a16:creationId xmlns:a16="http://schemas.microsoft.com/office/drawing/2014/main" id="{E8284C65-7ED9-3837-8702-FE5BBB6EBD54}"/>
              </a:ext>
            </a:extLst>
          </p:cNvPr>
          <p:cNvSpPr/>
          <p:nvPr/>
        </p:nvSpPr>
        <p:spPr>
          <a:xfrm>
            <a:off x="6096000" y="4143701"/>
            <a:ext cx="5835962" cy="2131644"/>
          </a:xfrm>
          <a:prstGeom prst="roundRect">
            <a:avLst>
              <a:gd name="adj" fmla="val 2703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4">
            <a:extLst>
              <a:ext uri="{FF2B5EF4-FFF2-40B4-BE49-F238E27FC236}">
                <a16:creationId xmlns:a16="http://schemas.microsoft.com/office/drawing/2014/main" id="{06DDCFBA-6192-1B4D-8E69-ECDE6D91B6D3}"/>
              </a:ext>
            </a:extLst>
          </p:cNvPr>
          <p:cNvSpPr/>
          <p:nvPr/>
        </p:nvSpPr>
        <p:spPr>
          <a:xfrm>
            <a:off x="6224016" y="4253429"/>
            <a:ext cx="5184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990000"/>
                </a:solidFill>
                <a:latin typeface="+mj-lt"/>
                <a:cs typeface="Arial" pitchFamily="34" charset="-120"/>
              </a:rPr>
              <a:t>Real-World Example</a:t>
            </a:r>
            <a:endParaRPr lang="en-US" sz="1400" dirty="0">
              <a:latin typeface="+mj-lt"/>
            </a:endParaRPr>
          </a:p>
        </p:txBody>
      </p:sp>
      <p:sp>
        <p:nvSpPr>
          <p:cNvPr id="35" name="Text 4">
            <a:extLst>
              <a:ext uri="{FF2B5EF4-FFF2-40B4-BE49-F238E27FC236}">
                <a16:creationId xmlns:a16="http://schemas.microsoft.com/office/drawing/2014/main" id="{1756986D-DBF5-EE06-A0D9-E190DAA72581}"/>
              </a:ext>
            </a:extLst>
          </p:cNvPr>
          <p:cNvSpPr/>
          <p:nvPr/>
        </p:nvSpPr>
        <p:spPr>
          <a:xfrm>
            <a:off x="6224015" y="4483395"/>
            <a:ext cx="5506033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" altLang="ko-KR" sz="1200" dirty="0"/>
              <a:t>Several transactions take place among three different accounts in a short period of time. First, account </a:t>
            </a:r>
            <a:r>
              <a:rPr lang="en" altLang="ko-KR" sz="1200" b="1" dirty="0"/>
              <a:t>A (ACC-CYCLE-001)</a:t>
            </a:r>
            <a:r>
              <a:rPr lang="en" altLang="ko-KR" sz="1200" dirty="0"/>
              <a:t> sends </a:t>
            </a:r>
            <a:r>
              <a:rPr lang="en" altLang="ko-KR" sz="1200" b="1" dirty="0"/>
              <a:t>$15,150</a:t>
            </a:r>
            <a:r>
              <a:rPr lang="en" altLang="ko-KR" sz="1200" dirty="0"/>
              <a:t> to account </a:t>
            </a:r>
            <a:r>
              <a:rPr lang="en" altLang="ko-KR" sz="1200" b="1" dirty="0"/>
              <a:t>B (ACC-CYCLE-002)</a:t>
            </a:r>
            <a:r>
              <a:rPr lang="en" altLang="ko-KR" sz="1200" dirty="0"/>
              <a:t> at </a:t>
            </a:r>
            <a:r>
              <a:rPr lang="en" altLang="ko-KR" sz="1200" b="1" dirty="0"/>
              <a:t>10:15</a:t>
            </a:r>
            <a:r>
              <a:rPr lang="en" altLang="ko-KR" sz="1200" dirty="0"/>
              <a:t>. Then, account </a:t>
            </a:r>
            <a:r>
              <a:rPr lang="en" altLang="ko-KR" sz="1200" b="1" dirty="0"/>
              <a:t>B</a:t>
            </a:r>
            <a:r>
              <a:rPr lang="en" altLang="ko-KR" sz="1200" dirty="0"/>
              <a:t> sends </a:t>
            </a:r>
            <a:r>
              <a:rPr lang="en" altLang="ko-KR" sz="1200" b="1" dirty="0"/>
              <a:t>$14,960</a:t>
            </a:r>
            <a:r>
              <a:rPr lang="en" altLang="ko-KR" sz="1200" dirty="0"/>
              <a:t> to account </a:t>
            </a:r>
            <a:r>
              <a:rPr lang="en" altLang="ko-KR" sz="1200" b="1" dirty="0"/>
              <a:t>C (ACC-CYCLE-003)</a:t>
            </a:r>
            <a:r>
              <a:rPr lang="en" altLang="ko-KR" sz="1200" dirty="0"/>
              <a:t> at </a:t>
            </a:r>
            <a:r>
              <a:rPr lang="en" altLang="ko-KR" sz="1200" b="1" dirty="0"/>
              <a:t>11:03</a:t>
            </a:r>
            <a:r>
              <a:rPr lang="en" altLang="ko-KR" sz="1200" dirty="0"/>
              <a:t>. Finally, account </a:t>
            </a:r>
            <a:r>
              <a:rPr lang="en" altLang="ko-KR" sz="1200" b="1" dirty="0"/>
              <a:t>C</a:t>
            </a:r>
            <a:r>
              <a:rPr lang="en" altLang="ko-KR" sz="1200" dirty="0"/>
              <a:t> sends </a:t>
            </a:r>
            <a:r>
              <a:rPr lang="en" altLang="ko-KR" sz="1200" b="1" dirty="0"/>
              <a:t>$15,040</a:t>
            </a:r>
            <a:r>
              <a:rPr lang="en" altLang="ko-KR" sz="1200" dirty="0"/>
              <a:t> back to account </a:t>
            </a:r>
            <a:r>
              <a:rPr lang="en" altLang="ko-KR" sz="1200" b="1" dirty="0"/>
              <a:t>A</a:t>
            </a:r>
            <a:r>
              <a:rPr lang="en" altLang="ko-KR" sz="1200" dirty="0"/>
              <a:t> at </a:t>
            </a:r>
            <a:r>
              <a:rPr lang="en" altLang="ko-KR" sz="1200" b="1" dirty="0"/>
              <a:t>12:16</a:t>
            </a:r>
            <a:r>
              <a:rPr lang="en" altLang="ko-KR" sz="1200" dirty="0"/>
              <a:t>. This creates a closed loop of money flow, </a:t>
            </a:r>
            <a:r>
              <a:rPr lang="en" altLang="ko-KR" sz="1200" b="1" dirty="0"/>
              <a:t>A → B → C → A</a:t>
            </a:r>
            <a:r>
              <a:rPr lang="en" altLang="ko-KR" sz="1200" dirty="0"/>
              <a:t>, within only a few hours. This pattern is suspicious because the funds circulate among related accounts and return close to the starting point, which may indicate </a:t>
            </a:r>
            <a:r>
              <a:rPr lang="en" altLang="ko-KR" sz="1200" b="1" dirty="0"/>
              <a:t>circular trading or layering behavior used to create artificial transaction activity and obscure the true origin of funds</a:t>
            </a:r>
            <a:r>
              <a:rPr lang="en" altLang="ko-KR" sz="1200" dirty="0"/>
              <a:t>.</a:t>
            </a:r>
            <a:endParaRPr lang="en-US" sz="1200" dirty="0"/>
          </a:p>
        </p:txBody>
      </p:sp>
      <p:sp>
        <p:nvSpPr>
          <p:cNvPr id="38" name="Text 4">
            <a:extLst>
              <a:ext uri="{FF2B5EF4-FFF2-40B4-BE49-F238E27FC236}">
                <a16:creationId xmlns:a16="http://schemas.microsoft.com/office/drawing/2014/main" id="{4CA5A0A6-F721-3DF6-6412-381C082F2928}"/>
              </a:ext>
            </a:extLst>
          </p:cNvPr>
          <p:cNvSpPr/>
          <p:nvPr/>
        </p:nvSpPr>
        <p:spPr>
          <a:xfrm>
            <a:off x="6224015" y="1167140"/>
            <a:ext cx="5184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chemeClr val="accent5"/>
                </a:solidFill>
                <a:latin typeface="+mj-lt"/>
                <a:cs typeface="Arial" pitchFamily="34" charset="-120"/>
              </a:rPr>
              <a:t>SQL Logic</a:t>
            </a:r>
            <a:endParaRPr lang="en-US" sz="1400" dirty="0">
              <a:solidFill>
                <a:schemeClr val="accent5"/>
              </a:solidFill>
              <a:latin typeface="+mj-lt"/>
            </a:endParaRPr>
          </a:p>
        </p:txBody>
      </p:sp>
      <p:sp>
        <p:nvSpPr>
          <p:cNvPr id="39" name="Text 40">
            <a:extLst>
              <a:ext uri="{FF2B5EF4-FFF2-40B4-BE49-F238E27FC236}">
                <a16:creationId xmlns:a16="http://schemas.microsoft.com/office/drawing/2014/main" id="{752D434D-E6E6-92F2-B3E9-04B03290C4C0}"/>
              </a:ext>
            </a:extLst>
          </p:cNvPr>
          <p:cNvSpPr/>
          <p:nvPr/>
        </p:nvSpPr>
        <p:spPr>
          <a:xfrm>
            <a:off x="701277" y="1271822"/>
            <a:ext cx="4459301" cy="59863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600" b="1" kern="0" spc="150" dirty="0">
                <a:solidFill>
                  <a:srgbClr val="990000"/>
                </a:solidFill>
                <a:latin typeface="Arial" pitchFamily="34" charset="0"/>
                <a:cs typeface="Arial" pitchFamily="34" charset="-120"/>
              </a:rPr>
              <a:t>Circular</a:t>
            </a:r>
            <a:r>
              <a:rPr lang="en-US" sz="1600" b="1" kern="0" spc="150" dirty="0">
                <a:solidFill>
                  <a:srgbClr val="990000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altLang="ko-KR" sz="1600" b="1" kern="0" spc="150" dirty="0">
                <a:solidFill>
                  <a:srgbClr val="990000"/>
                </a:solidFill>
                <a:latin typeface="Arial" pitchFamily="34" charset="0"/>
                <a:cs typeface="Arial" pitchFamily="34" charset="-120"/>
              </a:rPr>
              <a:t>Trading</a:t>
            </a:r>
            <a:r>
              <a:rPr lang="ko-KR" altLang="en-US" sz="1600" b="1" kern="0" spc="150" dirty="0">
                <a:solidFill>
                  <a:srgbClr val="990000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600" b="1" kern="0" spc="150" dirty="0">
                <a:solidFill>
                  <a:srgbClr val="990000"/>
                </a:solidFill>
                <a:latin typeface="Arial" pitchFamily="34" charset="0"/>
                <a:cs typeface="Arial" pitchFamily="34" charset="-120"/>
              </a:rPr>
              <a:t>Scenario </a:t>
            </a:r>
          </a:p>
          <a:p>
            <a:pPr marL="0" indent="0">
              <a:buNone/>
            </a:pPr>
            <a:r>
              <a:rPr lang="en-US" sz="1600" b="1" kern="0" spc="150" dirty="0">
                <a:solidFill>
                  <a:srgbClr val="990000"/>
                </a:solidFill>
                <a:latin typeface="Arial" pitchFamily="34" charset="0"/>
                <a:cs typeface="Arial" pitchFamily="34" charset="-120"/>
              </a:rPr>
              <a:t>Visual Explanation</a:t>
            </a:r>
            <a:endParaRPr lang="en-US" sz="1600" dirty="0"/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BF606034-6AAA-AB31-E3E6-CA5334F1B7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61141"/>
            <a:ext cx="5835962" cy="1992713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C00B4270-A57C-7D6D-6675-15C4D260EB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038" y="2125986"/>
            <a:ext cx="5337237" cy="36797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>
            <a:extLst>
              <a:ext uri="{FF2B5EF4-FFF2-40B4-BE49-F238E27FC236}">
                <a16:creationId xmlns:a16="http://schemas.microsoft.com/office/drawing/2014/main" id="{9C66F2D9-6F43-2BCA-8EF9-6247A0AD7CDC}"/>
              </a:ext>
            </a:extLst>
          </p:cNvPr>
          <p:cNvSpPr/>
          <p:nvPr/>
        </p:nvSpPr>
        <p:spPr>
          <a:xfrm>
            <a:off x="6141336" y="5148069"/>
            <a:ext cx="5473824" cy="1099773"/>
          </a:xfrm>
          <a:prstGeom prst="roundRect">
            <a:avLst>
              <a:gd name="adj" fmla="val 2703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10927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Query Explanation 2: Circular trading EXPLAIN analysis</a:t>
            </a:r>
            <a:endParaRPr lang="en-US" sz="2200" dirty="0"/>
          </a:p>
        </p:txBody>
      </p:sp>
      <p:sp>
        <p:nvSpPr>
          <p:cNvPr id="57" name="Text 40">
            <a:extLst>
              <a:ext uri="{FF2B5EF4-FFF2-40B4-BE49-F238E27FC236}">
                <a16:creationId xmlns:a16="http://schemas.microsoft.com/office/drawing/2014/main" id="{6AC80312-B27F-3308-D106-EC4E46C55601}"/>
              </a:ext>
            </a:extLst>
          </p:cNvPr>
          <p:cNvSpPr/>
          <p:nvPr/>
        </p:nvSpPr>
        <p:spPr>
          <a:xfrm>
            <a:off x="6177847" y="530844"/>
            <a:ext cx="4214039" cy="469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600" b="1" kern="0" spc="150" dirty="0">
                <a:solidFill>
                  <a:srgbClr val="990000"/>
                </a:solidFill>
                <a:latin typeface="Arial" pitchFamily="34" charset="0"/>
                <a:cs typeface="Arial" pitchFamily="34" charset="-120"/>
              </a:rPr>
              <a:t>APACHE AGE Execution EXPLAIN</a:t>
            </a:r>
          </a:p>
        </p:txBody>
      </p:sp>
      <p:sp>
        <p:nvSpPr>
          <p:cNvPr id="58" name="Text 40">
            <a:extLst>
              <a:ext uri="{FF2B5EF4-FFF2-40B4-BE49-F238E27FC236}">
                <a16:creationId xmlns:a16="http://schemas.microsoft.com/office/drawing/2014/main" id="{BF5EABCD-765C-908C-B217-993998D78B2E}"/>
              </a:ext>
            </a:extLst>
          </p:cNvPr>
          <p:cNvSpPr/>
          <p:nvPr/>
        </p:nvSpPr>
        <p:spPr>
          <a:xfrm>
            <a:off x="585664" y="530841"/>
            <a:ext cx="4693907" cy="469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chemeClr val="accent1"/>
                </a:solidFill>
                <a:latin typeface="Arial" pitchFamily="34" charset="0"/>
                <a:cs typeface="Arial" pitchFamily="34" charset="-120"/>
              </a:rPr>
              <a:t>PostgreSQL </a:t>
            </a:r>
            <a:r>
              <a:rPr lang="en-US" altLang="ko-KR" sz="1600" b="1" kern="0" spc="150" dirty="0">
                <a:solidFill>
                  <a:schemeClr val="accent1"/>
                </a:solidFill>
                <a:latin typeface="Arial" pitchFamily="34" charset="0"/>
                <a:cs typeface="Arial" pitchFamily="34" charset="-120"/>
              </a:rPr>
              <a:t>SQL Execution EXPLAIN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640080" y="1005834"/>
            <a:ext cx="5212080" cy="5867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Arial"/>
              </a:rPr>
              <a:t>1. Seq Scan on public.transactions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Filter: tx_type='transfer'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AND from_account_id / to_account_id NOT NULL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rows=792 / Removed 1104  Buffers=31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40080" y="1702301"/>
            <a:ext cx="5212080" cy="5867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Arial"/>
              </a:rPr>
              <a:t>2. CTE transfer_edges  ← public.transactions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materialised in memory (78 kB)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feeds both anchor and recursive step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40080" y="2398769"/>
            <a:ext cx="5212080" cy="5867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Arial"/>
              </a:rPr>
              <a:t>3. Recursive Union (anchor + step)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Anchor: CTE Scan transfer_edges (792 rows)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Recursive step: loops=3  rows≈12 each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Storage Memory: 180 kB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40080" y="3095238"/>
            <a:ext cx="5212080" cy="5867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Arial"/>
              </a:rPr>
              <a:t>4. Hash Join: paths ⋈ transfer_edges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Hash Cond: paths.current = transactions.from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Join Filter: tx_time ≤ origin+6h,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no repeated account, tx not yet in path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40080" y="3791706"/>
            <a:ext cx="5212080" cy="5867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Arial"/>
              </a:rPr>
              <a:t>5. CTE Scan paths (closing filter)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origin&lt;path[2] AND origin&lt;path[3]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depth=3 AND current=origin (closed loop)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rows=9   (819 removed)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40080" y="4488174"/>
            <a:ext cx="5212080" cy="5867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Arial"/>
              </a:rPr>
              <a:t>6. Sort (final)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Sort Key: first_tx_time   rows=9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Execution Time ≈ 1.35 ms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236208" y="1005837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1. Seq Scan on aml_graph."TRANSFER" (3rd hop)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Filter: agtype tx_type='transfer'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rows=792 / Removed 1104  Buffers=56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236208" y="1602809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2. Hash Join: aml_graph."TRANSFER" ⋈ "Account"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Seq Scan aml_graph."Account" (369 rows, 75 kB)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Hash Cond: TRANSFER.end_id = Account.id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(Account = cycle origin)    Buffers=65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236208" y="2199782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3. Index Scan on aml_graph."TRANSFER" (1st hop)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TRANSFER_start_id_idx  Cond: start_id = Account.id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Filter: tx_type='transfer'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loops=792  rows≈2  total=1,563  Buffers=4,166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236208" y="2796754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4. Nested Loop: TRANSFER ⋈ aml_graph."Account"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Index Scan Account_pkey  Cond: id = TRANSFER.end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Join Filter: origin.account_id &lt; middle.account_id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rows=1,563 → 477   Buffers=7,357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236208" y="3393727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5. Index Scan on aml_graph."TRANSFER" (2nd hop)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TRANSFER_start_id_idx  Cond: start_id = middle.id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Filter: tx_type='transfer'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loops=477  rows≈2.43   Buffers=3,234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236208" y="3990699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6. Nested Loop + _ag_enforce_edge_uniqueness3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hop1.end=hop2.start AND hop2.end=hop3.start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tx_time(hop1) ≤ hop2 ≤ hop3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rows=9 (1,149 removed)   Buffers=10,591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236208" y="4587672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7. Index Scan on aml_graph."Account" + Sort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Account_pkey (third account)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Filter: origin&lt;third AND third≠origin AND middle≠third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rows=9   Execution Time ≈ 6.97 ms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40080" y="1005834"/>
            <a:ext cx="5212080" cy="5867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Arial"/>
              </a:rPr>
              <a:t>1. Seq Scan on public.transactions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Filter: tx_type='transfer'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AND from_account_id / to_account_id NOT NULL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rows=792 / Removed 1104  Buffers=31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40080" y="1702301"/>
            <a:ext cx="5212080" cy="5867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Arial"/>
              </a:rPr>
              <a:t>2. CTE transfer_edges  ← public.transactions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materialised in memory (78 kB)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feeds both anchor and recursive step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40080" y="2398769"/>
            <a:ext cx="5212080" cy="5867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Arial"/>
              </a:rPr>
              <a:t>3. Recursive Union (anchor + step)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Anchor: CTE Scan transfer_edges (792 rows)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Recursive step: loops=3  rows≈12 each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Storage Memory: 180 kB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40080" y="3095238"/>
            <a:ext cx="5212080" cy="5867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Arial"/>
              </a:rPr>
              <a:t>4. Hash Join: paths ⋈ transfer_edges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Hash Cond: paths.current = transactions.from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Join Filter: tx_time ≤ origin+6h,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no repeated account, tx not yet in path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40080" y="3791706"/>
            <a:ext cx="5212080" cy="5867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Arial"/>
              </a:rPr>
              <a:t>5. CTE Scan paths (closing filter)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origin&lt;path[2] AND origin&lt;path[3]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depth=3 AND current=origin (closed loop)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rows=9   (819 removed)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40080" y="4488174"/>
            <a:ext cx="5212080" cy="5867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Arial"/>
              </a:rPr>
              <a:t>6. Sort (final)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Sort Key: first_tx_time   rows=9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Execution Time ≈ 1.35 ms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6236208" y="1005837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1. Seq Scan on aml_graph."TRANSFER" (3rd hop)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Filter: agtype tx_type='transfer'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rows=792 / Removed 1104  Buffers=56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236208" y="1602809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2. Hash Join: aml_graph."TRANSFER" ⋈ "Account"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Seq Scan aml_graph."Account" (369 rows, 75 kB)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Hash Cond: TRANSFER.end_id = Account.id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(Account = cycle origin)    Buffers=65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6236208" y="2199782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3. Index Scan on aml_graph."TRANSFER" (1st hop)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TRANSFER_start_id_idx  Cond: start_id = Account.id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Filter: tx_type='transfer'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loops=792  rows≈2  total=1,563  Buffers=4,166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236208" y="2796754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4. Nested Loop: TRANSFER ⋈ aml_graph."Account"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Index Scan Account_pkey  Cond: id = TRANSFER.end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Join Filter: origin.account_id &lt; middle.account_id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rows=1,563 → 477   Buffers=7,357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6236208" y="3393727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5. Index Scan on aml_graph."TRANSFER" (2nd hop)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TRANSFER_start_id_idx  Cond: start_id = middle.id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Filter: tx_type='transfer'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loops=477  rows≈2.43   Buffers=3,234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6236208" y="3990699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6. Nested Loop + _ag_enforce_edge_uniqueness3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hop1.end=hop2.start AND hop2.end=hop3.start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tx_time(hop1) ≤ hop2 ≤ hop3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rows=9 (1,149 removed)   Buffers=10,591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6236208" y="4587672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7. Index Scan on aml_graph."Account" + Sort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Account_pkey (third account)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Filter: origin&lt;third AND third≠origin AND middle≠third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rows=9   Execution Time ≈ 6.97 ms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640080" y="1005834"/>
            <a:ext cx="5212080" cy="5867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Arial"/>
              </a:rPr>
              <a:t>1. Seq Scan on public.transactions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Filter: tx_type='transfer'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AND from_account_id / to_account_id NOT NULL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rows=792 / Removed 1104  Buffers=31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640080" y="1702301"/>
            <a:ext cx="5212080" cy="5867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Arial"/>
              </a:rPr>
              <a:t>2. CTE transfer_edges  ← public.transactions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materialised in memory (78 kB)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feeds both anchor and recursive step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640080" y="2398769"/>
            <a:ext cx="5212080" cy="5867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Arial"/>
              </a:rPr>
              <a:t>3. Recursive Union (anchor + step)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Anchor: CTE Scan transfer_edges (792 rows)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Recursive step: loops=3  rows≈12 each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Storage Memory: 180 kB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640080" y="3095238"/>
            <a:ext cx="5212080" cy="5867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Arial"/>
              </a:rPr>
              <a:t>4. Hash Join: paths ⋈ transfer_edges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Hash Cond: paths.current = transactions.from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Join Filter: tx_time ≤ origin+6h,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no repeated account, tx not yet in path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640080" y="3791706"/>
            <a:ext cx="5212080" cy="5867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Arial"/>
              </a:rPr>
              <a:t>5. CTE Scan paths (closing filter)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origin&lt;path[2] AND origin&lt;path[3]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depth=3 AND current=origin (closed loop)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rows=9   (819 removed)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640080" y="4488174"/>
            <a:ext cx="5212080" cy="5867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Arial"/>
              </a:rPr>
              <a:t>6. Sort (final)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Sort Key: first_tx_time   rows=9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Execution Time ≈ 1.35 ms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6236208" y="1005837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1. Seq Scan on aml_graph."TRANSFER" (3rd hop)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Filter: agtype tx_type='transfer'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rows=792 / Removed 1104  Buffers=56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6236208" y="1602809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2. Hash Join: aml_graph."TRANSFER" ⋈ "Account"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Seq Scan aml_graph."Account" (369 rows, 75 kB)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Hash Cond: TRANSFER.end_id = Account.id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(Account = cycle origin)    Buffers=65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6236208" y="2199782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3. Index Scan on aml_graph."TRANSFER" (1st hop)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TRANSFER_start_id_idx  Cond: start_id = Account.id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Filter: tx_type='transfer'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loops=792  rows≈2  total=1,563  Buffers=4,166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6236208" y="2796754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4. Nested Loop: TRANSFER ⋈ aml_graph."Account"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Index Scan Account_pkey  Cond: id = TRANSFER.end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Join Filter: origin.account_id &lt; middle.account_id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rows=1,563 → 477   Buffers=7,357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6236208" y="3393727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5. Index Scan on aml_graph."TRANSFER" (2nd hop)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TRANSFER_start_id_idx  Cond: start_id = middle.id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Filter: tx_type='transfer'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loops=477  rows≈2.43   Buffers=3,234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6236208" y="3990699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6. Nested Loop + _ag_enforce_edge_uniqueness3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hop1.end=hop2.start AND hop2.end=hop3.start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tx_time(hop1) ≤ hop2 ≤ hop3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rows=9 (1,149 removed)   Buffers=10,591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6236208" y="4587672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7. Index Scan on aml_graph."Account" + Sort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Account_pkey (third account)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Filter: origin&lt;third AND third≠origin AND middle≠third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rows=9   Execution Time ≈ 6.97 ms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640080" y="1005834"/>
            <a:ext cx="5212080" cy="5867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dirty="0">
                <a:solidFill>
                  <a:srgbClr val="1F4E79"/>
                </a:solidFill>
                <a:latin typeface="Arial"/>
              </a:rPr>
              <a:t>1. Seq Scan on </a:t>
            </a:r>
            <a:r>
              <a:rPr sz="900" b="1" dirty="0" err="1">
                <a:solidFill>
                  <a:srgbClr val="1F4E79"/>
                </a:solidFill>
                <a:latin typeface="Arial"/>
              </a:rPr>
              <a:t>public.transactions</a:t>
            </a:r>
            <a:endParaRPr sz="900" b="1" dirty="0">
              <a:solidFill>
                <a:srgbClr val="1F4E79"/>
              </a:solidFill>
              <a:latin typeface="Arial"/>
            </a:endParaRPr>
          </a:p>
          <a:p>
            <a:pPr algn="ctr"/>
            <a:r>
              <a:rPr sz="720" dirty="0">
                <a:solidFill>
                  <a:srgbClr val="1A1A1A"/>
                </a:solidFill>
                <a:latin typeface="Consolas"/>
              </a:rPr>
              <a:t>Filter: </a:t>
            </a:r>
            <a:r>
              <a:rPr sz="720" dirty="0" err="1">
                <a:solidFill>
                  <a:srgbClr val="1A1A1A"/>
                </a:solidFill>
                <a:latin typeface="Consolas"/>
              </a:rPr>
              <a:t>tx_type</a:t>
            </a:r>
            <a:r>
              <a:rPr sz="720" dirty="0">
                <a:solidFill>
                  <a:srgbClr val="1A1A1A"/>
                </a:solidFill>
                <a:latin typeface="Consolas"/>
              </a:rPr>
              <a:t>='transfer'</a:t>
            </a:r>
          </a:p>
          <a:p>
            <a:pPr algn="ctr"/>
            <a:r>
              <a:rPr sz="720" dirty="0">
                <a:solidFill>
                  <a:srgbClr val="1A1A1A"/>
                </a:solidFill>
                <a:latin typeface="Consolas"/>
              </a:rPr>
              <a:t>AND </a:t>
            </a:r>
            <a:r>
              <a:rPr sz="720" dirty="0" err="1">
                <a:solidFill>
                  <a:srgbClr val="1A1A1A"/>
                </a:solidFill>
                <a:latin typeface="Consolas"/>
              </a:rPr>
              <a:t>from_account_id</a:t>
            </a:r>
            <a:r>
              <a:rPr sz="720" dirty="0">
                <a:solidFill>
                  <a:srgbClr val="1A1A1A"/>
                </a:solidFill>
                <a:latin typeface="Consolas"/>
              </a:rPr>
              <a:t> / </a:t>
            </a:r>
            <a:r>
              <a:rPr sz="720" dirty="0" err="1">
                <a:solidFill>
                  <a:srgbClr val="1A1A1A"/>
                </a:solidFill>
                <a:latin typeface="Consolas"/>
              </a:rPr>
              <a:t>to_account_id</a:t>
            </a:r>
            <a:r>
              <a:rPr sz="720" dirty="0">
                <a:solidFill>
                  <a:srgbClr val="1A1A1A"/>
                </a:solidFill>
                <a:latin typeface="Consolas"/>
              </a:rPr>
              <a:t> NOT NULL</a:t>
            </a:r>
          </a:p>
          <a:p>
            <a:pPr algn="ctr"/>
            <a:r>
              <a:rPr sz="720" dirty="0">
                <a:solidFill>
                  <a:srgbClr val="1A1A1A"/>
                </a:solidFill>
                <a:latin typeface="Consolas"/>
              </a:rPr>
              <a:t>rows=792 / Removed 1104  Buffers=31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640080" y="1702301"/>
            <a:ext cx="5212080" cy="5867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dirty="0">
                <a:solidFill>
                  <a:srgbClr val="1F4E79"/>
                </a:solidFill>
                <a:latin typeface="Arial"/>
              </a:rPr>
              <a:t>2. CTE </a:t>
            </a:r>
            <a:r>
              <a:rPr sz="900" b="1" dirty="0" err="1">
                <a:solidFill>
                  <a:srgbClr val="1F4E79"/>
                </a:solidFill>
                <a:latin typeface="Arial"/>
              </a:rPr>
              <a:t>transfer_edges</a:t>
            </a:r>
            <a:r>
              <a:rPr sz="900" b="1" dirty="0">
                <a:solidFill>
                  <a:srgbClr val="1F4E79"/>
                </a:solidFill>
                <a:latin typeface="Arial"/>
              </a:rPr>
              <a:t>  ← </a:t>
            </a:r>
            <a:r>
              <a:rPr sz="900" b="1" dirty="0" err="1">
                <a:solidFill>
                  <a:srgbClr val="1F4E79"/>
                </a:solidFill>
                <a:latin typeface="Arial"/>
              </a:rPr>
              <a:t>public.transactions</a:t>
            </a:r>
            <a:endParaRPr sz="900" b="1" dirty="0">
              <a:solidFill>
                <a:srgbClr val="1F4E79"/>
              </a:solidFill>
              <a:latin typeface="Arial"/>
            </a:endParaRPr>
          </a:p>
          <a:p>
            <a:pPr algn="ctr"/>
            <a:r>
              <a:rPr sz="720" dirty="0" err="1">
                <a:solidFill>
                  <a:srgbClr val="1A1A1A"/>
                </a:solidFill>
                <a:latin typeface="Consolas"/>
              </a:rPr>
              <a:t>materialised</a:t>
            </a:r>
            <a:r>
              <a:rPr sz="720" dirty="0">
                <a:solidFill>
                  <a:srgbClr val="1A1A1A"/>
                </a:solidFill>
                <a:latin typeface="Consolas"/>
              </a:rPr>
              <a:t> in memory (78 kB)</a:t>
            </a:r>
          </a:p>
          <a:p>
            <a:pPr algn="ctr"/>
            <a:r>
              <a:rPr sz="720" dirty="0">
                <a:solidFill>
                  <a:srgbClr val="1A1A1A"/>
                </a:solidFill>
                <a:latin typeface="Consolas"/>
              </a:rPr>
              <a:t>feeds both anchor and recursive step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640080" y="2398769"/>
            <a:ext cx="5212080" cy="5867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Arial"/>
              </a:rPr>
              <a:t>3. Recursive Union (anchor + step)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Anchor: CTE Scan transfer_edges (792 rows)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Recursive step: loops=3  rows≈12 each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Storage Memory: 180 kB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640080" y="3095238"/>
            <a:ext cx="5212080" cy="5867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Arial"/>
              </a:rPr>
              <a:t>4. Hash Join: paths ⋈ transfer_edges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Hash Cond: paths.current = transactions.from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Join Filter: tx_time ≤ origin+6h,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no repeated account, tx not yet in path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640080" y="3791706"/>
            <a:ext cx="5212080" cy="5867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Arial"/>
              </a:rPr>
              <a:t>5. CTE Scan paths (closing filter)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origin&lt;path[2] AND origin&lt;path[3]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depth=3 AND current=origin (closed loop)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rows=9   (819 removed)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640080" y="4488174"/>
            <a:ext cx="5212080" cy="5867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Arial"/>
              </a:rPr>
              <a:t>6. Sort (final)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Sort Key: first_tx_time   rows=9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Execution Time ≈ 1.35 ms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3246120" y="1592574"/>
            <a:ext cx="0" cy="109727"/>
          </a:xfrm>
          <a:prstGeom prst="bentConnector3">
            <a:avLst/>
          </a:prstGeom>
          <a:ln w="158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3246120" y="2289041"/>
            <a:ext cx="0" cy="109728"/>
          </a:xfrm>
          <a:prstGeom prst="bentConnector3">
            <a:avLst/>
          </a:prstGeom>
          <a:ln w="158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3246120" y="2985509"/>
            <a:ext cx="0" cy="109729"/>
          </a:xfrm>
          <a:prstGeom prst="bentConnector3">
            <a:avLst/>
          </a:prstGeom>
          <a:ln w="158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3246120" y="3681977"/>
            <a:ext cx="0" cy="109729"/>
          </a:xfrm>
          <a:prstGeom prst="bentConnector3">
            <a:avLst/>
          </a:prstGeom>
          <a:ln w="158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3246120" y="4378446"/>
            <a:ext cx="0" cy="109728"/>
          </a:xfrm>
          <a:prstGeom prst="bentConnector3">
            <a:avLst/>
          </a:prstGeom>
          <a:ln w="158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Rounded Rectangle 129"/>
          <p:cNvSpPr/>
          <p:nvPr/>
        </p:nvSpPr>
        <p:spPr>
          <a:xfrm>
            <a:off x="6236208" y="1005837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1. Seq Scan on aml_graph."TRANSFER" (3rd hop)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Filter: agtype tx_type='transfer'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rows=792 / Removed 1104  Buffers=56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6236208" y="1602809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2. Hash Join: aml_graph."TRANSFER" ⋈ "Account"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Seq Scan aml_graph."Account" (369 rows, 75 kB)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Hash Cond: TRANSFER.end_id = Account.id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(Account = cycle origin)    Buffers=65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6236208" y="2199782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3. Index Scan on aml_graph."TRANSFER" (1st hop)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TRANSFER_start_id_idx  Cond: start_id = Account.id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Filter: tx_type='transfer'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loops=792  rows≈2  total=1,563  Buffers=4,166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6236208" y="2796754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4. Nested Loop: TRANSFER ⋈ aml_graph."Account"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Index Scan Account_pkey  Cond: id = TRANSFER.end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Join Filter: origin.account_id &lt; middle.account_id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rows=1,563 → 477   Buffers=7,357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6236208" y="3393727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5. Index Scan on aml_graph."TRANSFER" (2nd hop)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TRANSFER_start_id_idx  Cond: start_id = middle.id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Filter: tx_type='transfer'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loops=477  rows≈2.43   Buffers=3,234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6236208" y="3990699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6. Nested Loop + _ag_enforce_edge_uniqueness3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hop1.end=hop2.start AND hop2.end=hop3.start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tx_time(hop1) ≤ hop2 ≤ hop3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rows=9 (1,149 removed)   Buffers=10,591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6236208" y="4587672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7. Index Scan on aml_graph."Account" + Sort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Account_pkey (third account)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Filter: origin&lt;third AND third≠origin AND middle≠third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rows=9   Execution Time ≈ 6.97 ms</a:t>
            </a:r>
          </a:p>
        </p:txBody>
      </p:sp>
      <p:cxnSp>
        <p:nvCxnSpPr>
          <p:cNvPr id="137" name="Connector 136"/>
          <p:cNvCxnSpPr/>
          <p:nvPr/>
        </p:nvCxnSpPr>
        <p:spPr>
          <a:xfrm>
            <a:off x="8842248" y="1493081"/>
            <a:ext cx="0" cy="109728"/>
          </a:xfrm>
          <a:prstGeom prst="bentConnector3">
            <a:avLst/>
          </a:prstGeom>
          <a:ln w="15875">
            <a:solidFill>
              <a:srgbClr val="99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8842248" y="2090054"/>
            <a:ext cx="0" cy="109728"/>
          </a:xfrm>
          <a:prstGeom prst="bentConnector3">
            <a:avLst/>
          </a:prstGeom>
          <a:ln w="15875">
            <a:solidFill>
              <a:srgbClr val="99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8842248" y="2687026"/>
            <a:ext cx="0" cy="109728"/>
          </a:xfrm>
          <a:prstGeom prst="bentConnector3">
            <a:avLst/>
          </a:prstGeom>
          <a:ln w="15875">
            <a:solidFill>
              <a:srgbClr val="99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8842248" y="3283999"/>
            <a:ext cx="0" cy="109728"/>
          </a:xfrm>
          <a:prstGeom prst="bentConnector3">
            <a:avLst/>
          </a:prstGeom>
          <a:ln w="15875">
            <a:solidFill>
              <a:srgbClr val="99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8842248" y="3880971"/>
            <a:ext cx="0" cy="109728"/>
          </a:xfrm>
          <a:prstGeom prst="bentConnector3">
            <a:avLst/>
          </a:prstGeom>
          <a:ln w="15875">
            <a:solidFill>
              <a:srgbClr val="99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8842248" y="4477944"/>
            <a:ext cx="0" cy="109728"/>
          </a:xfrm>
          <a:prstGeom prst="bentConnector3">
            <a:avLst/>
          </a:prstGeom>
          <a:ln w="15875">
            <a:solidFill>
              <a:srgbClr val="99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hape 3">
            <a:extLst>
              <a:ext uri="{FF2B5EF4-FFF2-40B4-BE49-F238E27FC236}">
                <a16:creationId xmlns:a16="http://schemas.microsoft.com/office/drawing/2014/main" id="{9107E06B-B1CA-EF0D-A69C-B1FAB887773A}"/>
              </a:ext>
            </a:extLst>
          </p:cNvPr>
          <p:cNvSpPr/>
          <p:nvPr/>
        </p:nvSpPr>
        <p:spPr>
          <a:xfrm>
            <a:off x="585664" y="5133695"/>
            <a:ext cx="5473824" cy="1138651"/>
          </a:xfrm>
          <a:prstGeom prst="roundRect">
            <a:avLst>
              <a:gd name="adj" fmla="val 2703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502920" y="6549719"/>
            <a:ext cx="1118311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/>
          <p:nvPr/>
        </p:nvSpPr>
        <p:spPr>
          <a:xfrm>
            <a:off x="10835640" y="6314149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700" dirty="0"/>
          </a:p>
        </p:txBody>
      </p:sp>
      <p:sp>
        <p:nvSpPr>
          <p:cNvPr id="143" name="TextBox 142"/>
          <p:cNvSpPr txBox="1"/>
          <p:nvPr/>
        </p:nvSpPr>
        <p:spPr>
          <a:xfrm>
            <a:off x="667512" y="5133696"/>
            <a:ext cx="5349240" cy="1114151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lang="en" sz="1000" b="1" dirty="0">
                <a:solidFill>
                  <a:srgbClr val="990000"/>
                </a:solidFill>
                <a:latin typeface="Arial"/>
              </a:rPr>
              <a:t>What the database does internally</a:t>
            </a:r>
          </a:p>
          <a:p>
            <a:pPr algn="l"/>
            <a:r>
              <a:rPr lang="en" altLang="ko-KR" sz="1000" b="1" dirty="0"/>
              <a:t>Filter</a:t>
            </a:r>
            <a:r>
              <a:rPr lang="en" altLang="ko-KR" sz="1000" dirty="0"/>
              <a:t> </a:t>
            </a:r>
            <a:r>
              <a:rPr lang="en" altLang="ko-KR" sz="1000" dirty="0" err="1"/>
              <a:t>public.transactions</a:t>
            </a:r>
            <a:r>
              <a:rPr lang="en" altLang="ko-KR" sz="1000" dirty="0"/>
              <a:t> → transfers, </a:t>
            </a:r>
            <a:r>
              <a:rPr lang="en" altLang="ko-KR" sz="1000" dirty="0" err="1"/>
              <a:t>materialise</a:t>
            </a:r>
            <a:r>
              <a:rPr lang="en" altLang="ko-KR" sz="1000" dirty="0"/>
              <a:t> as </a:t>
            </a:r>
            <a:r>
              <a:rPr lang="en" altLang="ko-KR" sz="1000" b="1" dirty="0"/>
              <a:t>CTE </a:t>
            </a:r>
            <a:r>
              <a:rPr lang="en" altLang="ko-KR" sz="1000" b="1" dirty="0" err="1"/>
              <a:t>transfer_edges</a:t>
            </a:r>
            <a:r>
              <a:rPr lang="en" altLang="ko-KR" sz="1000" dirty="0"/>
              <a:t> (78 kB). A </a:t>
            </a:r>
            <a:r>
              <a:rPr lang="en" altLang="ko-KR" sz="1000" b="1" dirty="0"/>
              <a:t>Recursive Union</a:t>
            </a:r>
            <a:r>
              <a:rPr lang="en" altLang="ko-KR" sz="1000" dirty="0"/>
              <a:t> grows 3-hop paths: anchor reads </a:t>
            </a:r>
            <a:r>
              <a:rPr lang="en" altLang="ko-KR" sz="1000" dirty="0" err="1"/>
              <a:t>transfer_edges</a:t>
            </a:r>
            <a:r>
              <a:rPr lang="en" altLang="ko-KR" sz="1000" dirty="0"/>
              <a:t> directly, each recursive step does a </a:t>
            </a:r>
            <a:r>
              <a:rPr lang="en" altLang="ko-KR" sz="1000" b="1" dirty="0"/>
              <a:t>Hash Join</a:t>
            </a:r>
            <a:r>
              <a:rPr lang="en" altLang="ko-KR" sz="1000" dirty="0"/>
              <a:t> on another </a:t>
            </a:r>
            <a:r>
              <a:rPr lang="en" altLang="ko-KR" sz="1000" dirty="0" err="1"/>
              <a:t>transfer_edges</a:t>
            </a:r>
            <a:r>
              <a:rPr lang="en" altLang="ko-KR" sz="1000" dirty="0"/>
              <a:t> row. </a:t>
            </a:r>
            <a:r>
              <a:rPr lang="en" altLang="ko-KR" sz="1000" b="1" dirty="0"/>
              <a:t>Join filter</a:t>
            </a:r>
            <a:r>
              <a:rPr lang="en" altLang="ko-KR" sz="1000" dirty="0"/>
              <a:t> enforces a </a:t>
            </a:r>
            <a:r>
              <a:rPr lang="en" altLang="ko-KR" sz="1000" b="1" dirty="0"/>
              <a:t>6-hour window</a:t>
            </a:r>
            <a:r>
              <a:rPr lang="en" altLang="ko-KR" sz="1000" dirty="0"/>
              <a:t>, </a:t>
            </a:r>
            <a:r>
              <a:rPr lang="en" altLang="ko-KR" sz="1000" b="1" dirty="0"/>
              <a:t>no repeated account</a:t>
            </a:r>
            <a:r>
              <a:rPr lang="en" altLang="ko-KR" sz="1000" dirty="0"/>
              <a:t>, and </a:t>
            </a:r>
            <a:r>
              <a:rPr lang="en" altLang="ko-KR" sz="1000" b="1" dirty="0"/>
              <a:t>no re-used transaction</a:t>
            </a:r>
            <a:r>
              <a:rPr lang="en" altLang="ko-KR" sz="1000" dirty="0"/>
              <a:t>. A </a:t>
            </a:r>
            <a:r>
              <a:rPr lang="en" altLang="ko-KR" sz="1000" b="1" dirty="0"/>
              <a:t>closing CTE scan</a:t>
            </a:r>
            <a:r>
              <a:rPr lang="en" altLang="ko-KR" sz="1000" dirty="0"/>
              <a:t> keeps only </a:t>
            </a:r>
            <a:r>
              <a:rPr lang="en" altLang="ko-KR" sz="1000" b="1" dirty="0"/>
              <a:t>A → B → C → A</a:t>
            </a:r>
            <a:r>
              <a:rPr lang="en" altLang="ko-KR" sz="1000" dirty="0"/>
              <a:t> loops, then a </a:t>
            </a:r>
            <a:r>
              <a:rPr lang="en" altLang="ko-KR" sz="1000" b="1" dirty="0"/>
              <a:t>final Sort</a:t>
            </a:r>
            <a:r>
              <a:rPr lang="en" altLang="ko-KR" sz="1000" dirty="0"/>
              <a:t> by </a:t>
            </a:r>
            <a:r>
              <a:rPr lang="en" altLang="ko-KR" sz="1000" dirty="0" err="1"/>
              <a:t>first_tx_time</a:t>
            </a:r>
            <a:r>
              <a:rPr lang="en" altLang="ko-KR" sz="1000" dirty="0"/>
              <a:t>. Result: </a:t>
            </a:r>
            <a:r>
              <a:rPr lang="en" altLang="ko-KR" sz="1000" b="1" dirty="0"/>
              <a:t>9 cycles in ≈ 1.35 </a:t>
            </a:r>
            <a:r>
              <a:rPr lang="en" altLang="ko-KR" sz="1000" b="1" dirty="0" err="1"/>
              <a:t>ms</a:t>
            </a:r>
            <a:r>
              <a:rPr lang="en" altLang="ko-KR" sz="1000" b="1" dirty="0"/>
              <a:t> / 31 shared buffers</a:t>
            </a:r>
            <a:r>
              <a:rPr lang="en" altLang="ko-KR" sz="1000" dirty="0"/>
              <a:t>.</a:t>
            </a:r>
            <a:endParaRPr sz="1000" b="1" dirty="0">
              <a:solidFill>
                <a:srgbClr val="990000"/>
              </a:solidFill>
              <a:latin typeface="Arial"/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6154782" y="5144589"/>
            <a:ext cx="5532120" cy="1126975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lang="en" altLang="ko-KR" sz="1000" b="1" dirty="0">
                <a:solidFill>
                  <a:srgbClr val="990000"/>
                </a:solidFill>
                <a:latin typeface="Arial"/>
              </a:rPr>
              <a:t>What the database does internally</a:t>
            </a:r>
            <a:endParaRPr sz="1000" b="1" dirty="0">
              <a:solidFill>
                <a:srgbClr val="990000"/>
              </a:solidFill>
              <a:latin typeface="Arial"/>
            </a:endParaRPr>
          </a:p>
          <a:p>
            <a:pPr algn="l">
              <a:spcBef>
                <a:spcPts val="100"/>
              </a:spcBef>
            </a:pPr>
            <a:r>
              <a:rPr lang="en" altLang="ko-KR" sz="1000" b="1" dirty="0"/>
              <a:t>Three separate scans</a:t>
            </a:r>
            <a:r>
              <a:rPr lang="en" altLang="ko-KR" sz="1000" dirty="0"/>
              <a:t> of </a:t>
            </a:r>
            <a:r>
              <a:rPr lang="en" altLang="ko-KR" sz="1000" dirty="0" err="1"/>
              <a:t>aml_graph."TRANSFER</a:t>
            </a:r>
            <a:r>
              <a:rPr lang="en" altLang="ko-KR" sz="1000" dirty="0"/>
              <a:t>" (one per hop) stitched by </a:t>
            </a:r>
            <a:r>
              <a:rPr lang="en" altLang="ko-KR" sz="1000" b="1" dirty="0"/>
              <a:t>Hash Joins + Nested Loops</a:t>
            </a:r>
            <a:r>
              <a:rPr lang="en" altLang="ko-KR" sz="1000" dirty="0"/>
              <a:t> on </a:t>
            </a:r>
            <a:r>
              <a:rPr lang="en" altLang="ko-KR" sz="1000" dirty="0" err="1"/>
              <a:t>aml_graph."Account</a:t>
            </a:r>
            <a:r>
              <a:rPr lang="en" altLang="ko-KR" sz="1000" dirty="0"/>
              <a:t>" vertices. </a:t>
            </a:r>
            <a:r>
              <a:rPr lang="en" altLang="ko-KR" sz="1000" b="1" dirty="0"/>
              <a:t>Index Scan</a:t>
            </a:r>
            <a:r>
              <a:rPr lang="en" altLang="ko-KR" sz="1000" dirty="0"/>
              <a:t> on </a:t>
            </a:r>
            <a:r>
              <a:rPr lang="en" altLang="ko-KR" sz="1000" dirty="0" err="1"/>
              <a:t>TRANSFER_start_id_idx</a:t>
            </a:r>
            <a:r>
              <a:rPr lang="en" altLang="ko-KR" sz="1000" dirty="0"/>
              <a:t> dominates: </a:t>
            </a:r>
            <a:r>
              <a:rPr lang="en" altLang="ko-KR" sz="1000" b="1" dirty="0"/>
              <a:t>loops=792</a:t>
            </a:r>
            <a:r>
              <a:rPr lang="en" altLang="ko-KR" sz="1000" dirty="0"/>
              <a:t> (hop 1), </a:t>
            </a:r>
            <a:r>
              <a:rPr lang="en" altLang="ko-KR" sz="1000" b="1" dirty="0"/>
              <a:t>loops=477</a:t>
            </a:r>
            <a:r>
              <a:rPr lang="en" altLang="ko-KR" sz="1000" dirty="0"/>
              <a:t> (hop 2). </a:t>
            </a:r>
            <a:r>
              <a:rPr lang="en" altLang="ko-KR" sz="1000" b="1" dirty="0"/>
              <a:t>Edge uniqueness</a:t>
            </a:r>
            <a:r>
              <a:rPr lang="en" altLang="ko-KR" sz="1000" dirty="0"/>
              <a:t> (_ag_enforce_edge_uniqueness3) and </a:t>
            </a:r>
            <a:r>
              <a:rPr lang="en" altLang="ko-KR" sz="1000" b="1" dirty="0" err="1"/>
              <a:t>tx_time</a:t>
            </a:r>
            <a:r>
              <a:rPr lang="en" altLang="ko-KR" sz="1000" b="1" dirty="0"/>
              <a:t> ordering</a:t>
            </a:r>
            <a:r>
              <a:rPr lang="en" altLang="ko-KR" sz="1000" dirty="0"/>
              <a:t> (hop1 ≤ hop2 ≤ hop3) enforced as </a:t>
            </a:r>
            <a:r>
              <a:rPr lang="en" altLang="ko-KR" sz="1000" b="1" dirty="0"/>
              <a:t>Join Filters</a:t>
            </a:r>
            <a:r>
              <a:rPr lang="en" altLang="ko-KR" sz="1000" dirty="0"/>
              <a:t> on top of every </a:t>
            </a:r>
            <a:r>
              <a:rPr lang="en" altLang="ko-KR" sz="1000" b="1" dirty="0" err="1"/>
              <a:t>agtype</a:t>
            </a:r>
            <a:r>
              <a:rPr lang="en" altLang="ko-KR" sz="1000" b="1" dirty="0"/>
              <a:t> property access</a:t>
            </a:r>
            <a:r>
              <a:rPr lang="en" altLang="ko-KR" sz="1000" dirty="0"/>
              <a:t>. Result: </a:t>
            </a:r>
            <a:r>
              <a:rPr lang="en" altLang="ko-KR" sz="1000" b="1" dirty="0"/>
              <a:t>&gt; 10,600 shared buffers, ≈ 6.97 </a:t>
            </a:r>
            <a:r>
              <a:rPr lang="en" altLang="ko-KR" sz="1000" b="1" dirty="0" err="1"/>
              <a:t>ms</a:t>
            </a:r>
            <a:r>
              <a:rPr lang="en" altLang="ko-KR" sz="1000" b="1" dirty="0"/>
              <a:t> — about 5× slower</a:t>
            </a:r>
            <a:r>
              <a:rPr lang="en" altLang="ko-KR" sz="1000" dirty="0"/>
              <a:t> than the recursive SQL.</a:t>
            </a:r>
            <a:endParaRPr sz="900" dirty="0">
              <a:solidFill>
                <a:srgbClr val="1A1A1A"/>
              </a:solidFill>
              <a:latin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AEB70C-D618-022A-84B9-4B7DB2808B3E}"/>
              </a:ext>
            </a:extLst>
          </p:cNvPr>
          <p:cNvSpPr txBox="1"/>
          <p:nvPr/>
        </p:nvSpPr>
        <p:spPr>
          <a:xfrm>
            <a:off x="3199094" y="6320462"/>
            <a:ext cx="5727191" cy="1985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450"/>
              </a:spcAft>
            </a:pPr>
            <a:r>
              <a:rPr lang="en" altLang="ko-KR" sz="1050" b="1" i="0" dirty="0">
                <a:solidFill>
                  <a:srgbClr val="002060"/>
                </a:solidFill>
                <a:effectLst/>
              </a:rPr>
              <a:t>Why it matters</a:t>
            </a:r>
            <a:r>
              <a:rPr lang="en" altLang="ko-KR" sz="1050" b="0" i="0" dirty="0">
                <a:solidFill>
                  <a:srgbClr val="002060"/>
                </a:solidFill>
                <a:effectLst/>
              </a:rPr>
              <a:t>: tuned graph narrows traversal, but SQL still executes less work on this dataset.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10927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Focus Area 2: Query Execution</a:t>
            </a:r>
            <a:endParaRPr lang="en-US" sz="2200" dirty="0"/>
          </a:p>
        </p:txBody>
      </p:sp>
      <p:sp>
        <p:nvSpPr>
          <p:cNvPr id="56" name="Shape 54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/>
          <p:nvPr/>
        </p:nvSpPr>
        <p:spPr>
          <a:xfrm>
            <a:off x="10835640" y="645566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700" dirty="0"/>
          </a:p>
        </p:txBody>
      </p:sp>
      <p:sp>
        <p:nvSpPr>
          <p:cNvPr id="59" name="Text 40">
            <a:extLst>
              <a:ext uri="{FF2B5EF4-FFF2-40B4-BE49-F238E27FC236}">
                <a16:creationId xmlns:a16="http://schemas.microsoft.com/office/drawing/2014/main" id="{EB4AC19F-AE36-5840-1141-4CA8AD84979B}"/>
              </a:ext>
            </a:extLst>
          </p:cNvPr>
          <p:cNvSpPr/>
          <p:nvPr/>
        </p:nvSpPr>
        <p:spPr>
          <a:xfrm>
            <a:off x="6217920" y="778493"/>
            <a:ext cx="4459301" cy="598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latin typeface="Arial" pitchFamily="34" charset="0"/>
                <a:cs typeface="Arial" pitchFamily="34" charset="-120"/>
              </a:rPr>
              <a:t>Smurfing Detection</a:t>
            </a:r>
            <a:endParaRPr lang="en-US" sz="1600" dirty="0"/>
          </a:p>
        </p:txBody>
      </p:sp>
      <p:sp>
        <p:nvSpPr>
          <p:cNvPr id="61" name="Shape 44">
            <a:extLst>
              <a:ext uri="{FF2B5EF4-FFF2-40B4-BE49-F238E27FC236}">
                <a16:creationId xmlns:a16="http://schemas.microsoft.com/office/drawing/2014/main" id="{09D886AB-FBD7-8485-89A2-A970765E4C8A}"/>
              </a:ext>
            </a:extLst>
          </p:cNvPr>
          <p:cNvSpPr/>
          <p:nvPr/>
        </p:nvSpPr>
        <p:spPr>
          <a:xfrm>
            <a:off x="6217920" y="1395993"/>
            <a:ext cx="5443720" cy="825364"/>
          </a:xfrm>
          <a:prstGeom prst="roundRect">
            <a:avLst>
              <a:gd name="adj" fmla="val 10345"/>
            </a:avLst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62" name="Text 45">
            <a:extLst>
              <a:ext uri="{FF2B5EF4-FFF2-40B4-BE49-F238E27FC236}">
                <a16:creationId xmlns:a16="http://schemas.microsoft.com/office/drawing/2014/main" id="{4C1237B0-AA33-AE82-6A55-7CDD535CCF7E}"/>
              </a:ext>
            </a:extLst>
          </p:cNvPr>
          <p:cNvSpPr/>
          <p:nvPr/>
        </p:nvSpPr>
        <p:spPr>
          <a:xfrm>
            <a:off x="6372913" y="1728823"/>
            <a:ext cx="2569464" cy="18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2400" b="1">
                <a:solidFill>
                  <a:srgbClr val="1F4E79"/>
                </a:solidFill>
                <a:latin typeface="Arial"/>
              </a:rPr>
              <a:t>0.99 ms</a:t>
            </a:r>
            <a:endParaRPr lang="en-US" sz="2100" dirty="0">
              <a:solidFill>
                <a:schemeClr val="accent1"/>
              </a:solidFill>
            </a:endParaRPr>
          </a:p>
        </p:txBody>
      </p:sp>
      <p:sp>
        <p:nvSpPr>
          <p:cNvPr id="63" name="Text 46">
            <a:extLst>
              <a:ext uri="{FF2B5EF4-FFF2-40B4-BE49-F238E27FC236}">
                <a16:creationId xmlns:a16="http://schemas.microsoft.com/office/drawing/2014/main" id="{7CE6BE9B-689B-95FA-1517-162BC8C2F541}"/>
              </a:ext>
            </a:extLst>
          </p:cNvPr>
          <p:cNvSpPr/>
          <p:nvPr/>
        </p:nvSpPr>
        <p:spPr>
          <a:xfrm>
            <a:off x="6372913" y="2035696"/>
            <a:ext cx="25694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00" b="0">
                <a:solidFill>
                  <a:srgbClr val="4A4A4A"/>
                </a:solidFill>
                <a:latin typeface="Arial"/>
              </a:rPr>
              <a:t>median exec time</a:t>
            </a:r>
            <a:endParaRPr lang="en-US" sz="760" dirty="0">
              <a:solidFill>
                <a:schemeClr val="accent1"/>
              </a:solidFill>
            </a:endParaRPr>
          </a:p>
        </p:txBody>
      </p:sp>
      <p:sp>
        <p:nvSpPr>
          <p:cNvPr id="64" name="Shape 47">
            <a:extLst>
              <a:ext uri="{FF2B5EF4-FFF2-40B4-BE49-F238E27FC236}">
                <a16:creationId xmlns:a16="http://schemas.microsoft.com/office/drawing/2014/main" id="{12E49E0E-A9E8-E06D-221F-CE1C4A773C31}"/>
              </a:ext>
            </a:extLst>
          </p:cNvPr>
          <p:cNvSpPr/>
          <p:nvPr/>
        </p:nvSpPr>
        <p:spPr>
          <a:xfrm>
            <a:off x="8942377" y="1448825"/>
            <a:ext cx="1088" cy="675998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48">
            <a:extLst>
              <a:ext uri="{FF2B5EF4-FFF2-40B4-BE49-F238E27FC236}">
                <a16:creationId xmlns:a16="http://schemas.microsoft.com/office/drawing/2014/main" id="{081110BE-A6B9-8F51-5421-0E68AF37A173}"/>
              </a:ext>
            </a:extLst>
          </p:cNvPr>
          <p:cNvSpPr/>
          <p:nvPr/>
        </p:nvSpPr>
        <p:spPr>
          <a:xfrm>
            <a:off x="9196826" y="1728823"/>
            <a:ext cx="2569464" cy="18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2400" b="1">
                <a:solidFill>
                  <a:srgbClr val="990000"/>
                </a:solidFill>
                <a:latin typeface="Arial"/>
              </a:rPr>
              <a:t>5.86 ms</a:t>
            </a:r>
            <a:endParaRPr lang="en-US" sz="2100" dirty="0">
              <a:solidFill>
                <a:srgbClr val="990000"/>
              </a:solidFill>
            </a:endParaRPr>
          </a:p>
        </p:txBody>
      </p:sp>
      <p:sp>
        <p:nvSpPr>
          <p:cNvPr id="66" name="Text 49">
            <a:extLst>
              <a:ext uri="{FF2B5EF4-FFF2-40B4-BE49-F238E27FC236}">
                <a16:creationId xmlns:a16="http://schemas.microsoft.com/office/drawing/2014/main" id="{3FE16D24-EA96-CAB6-1BEC-11B8708B4772}"/>
              </a:ext>
            </a:extLst>
          </p:cNvPr>
          <p:cNvSpPr/>
          <p:nvPr/>
        </p:nvSpPr>
        <p:spPr>
          <a:xfrm>
            <a:off x="9196826" y="2035696"/>
            <a:ext cx="25694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00" b="0">
                <a:solidFill>
                  <a:srgbClr val="4A4A4A"/>
                </a:solidFill>
                <a:latin typeface="Arial"/>
              </a:rPr>
              <a:t>median exec time</a:t>
            </a:r>
            <a:endParaRPr lang="en-US" sz="760" dirty="0">
              <a:solidFill>
                <a:srgbClr val="990000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55E819-5456-13DF-3CC2-87F5B8FD9DE4}"/>
              </a:ext>
            </a:extLst>
          </p:cNvPr>
          <p:cNvSpPr txBox="1"/>
          <p:nvPr/>
        </p:nvSpPr>
        <p:spPr>
          <a:xfrm>
            <a:off x="6263185" y="1317239"/>
            <a:ext cx="11708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kern="0" spc="150" dirty="0">
                <a:solidFill>
                  <a:schemeClr val="accent1"/>
                </a:solidFill>
                <a:latin typeface="+mj-lt"/>
                <a:cs typeface="Arial" pitchFamily="34" charset="-120"/>
              </a:rPr>
              <a:t>PostgreSQL</a:t>
            </a:r>
            <a:endParaRPr lang="ko-KR" altLang="en-US" sz="1200" dirty="0">
              <a:latin typeface="+mj-lt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7D490CB-92D0-A4F1-C076-A63EB9567DBB}"/>
              </a:ext>
            </a:extLst>
          </p:cNvPr>
          <p:cNvSpPr txBox="1"/>
          <p:nvPr/>
        </p:nvSpPr>
        <p:spPr>
          <a:xfrm>
            <a:off x="9083100" y="1321972"/>
            <a:ext cx="11708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kern="0" spc="150" dirty="0">
                <a:solidFill>
                  <a:srgbClr val="990000"/>
                </a:solidFill>
                <a:latin typeface="+mj-lt"/>
                <a:cs typeface="Arial" pitchFamily="34" charset="-120"/>
              </a:rPr>
              <a:t>Apache Age</a:t>
            </a:r>
            <a:endParaRPr lang="ko-KR" altLang="en-US" sz="1200" dirty="0">
              <a:solidFill>
                <a:srgbClr val="990000"/>
              </a:solidFill>
              <a:latin typeface="+mj-lt"/>
            </a:endParaRPr>
          </a:p>
        </p:txBody>
      </p:sp>
      <p:sp>
        <p:nvSpPr>
          <p:cNvPr id="85" name="Text 40">
            <a:extLst>
              <a:ext uri="{FF2B5EF4-FFF2-40B4-BE49-F238E27FC236}">
                <a16:creationId xmlns:a16="http://schemas.microsoft.com/office/drawing/2014/main" id="{9C94EDFF-B7DF-9278-66C0-5D27A7C800DC}"/>
              </a:ext>
            </a:extLst>
          </p:cNvPr>
          <p:cNvSpPr/>
          <p:nvPr/>
        </p:nvSpPr>
        <p:spPr>
          <a:xfrm>
            <a:off x="6230277" y="2123894"/>
            <a:ext cx="4459301" cy="598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800" b="1" dirty="0">
                <a:solidFill>
                  <a:srgbClr val="1A1A1A"/>
                </a:solidFill>
                <a:latin typeface="Arial"/>
              </a:rPr>
              <a:t>Circular Trading Detection</a:t>
            </a:r>
            <a:endParaRPr lang="en-US" sz="1600" b="1" dirty="0"/>
          </a:p>
        </p:txBody>
      </p:sp>
      <p:sp>
        <p:nvSpPr>
          <p:cNvPr id="86" name="Shape 44">
            <a:extLst>
              <a:ext uri="{FF2B5EF4-FFF2-40B4-BE49-F238E27FC236}">
                <a16:creationId xmlns:a16="http://schemas.microsoft.com/office/drawing/2014/main" id="{486CCF4E-8CA8-03B9-D227-DEC01DE1D7E3}"/>
              </a:ext>
            </a:extLst>
          </p:cNvPr>
          <p:cNvSpPr/>
          <p:nvPr/>
        </p:nvSpPr>
        <p:spPr>
          <a:xfrm>
            <a:off x="6217920" y="2730504"/>
            <a:ext cx="5443720" cy="825364"/>
          </a:xfrm>
          <a:prstGeom prst="roundRect">
            <a:avLst>
              <a:gd name="adj" fmla="val 10345"/>
            </a:avLst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87" name="Text 45">
            <a:extLst>
              <a:ext uri="{FF2B5EF4-FFF2-40B4-BE49-F238E27FC236}">
                <a16:creationId xmlns:a16="http://schemas.microsoft.com/office/drawing/2014/main" id="{5BC410FF-5EBB-9FF2-8F24-7DEB4D30A1D5}"/>
              </a:ext>
            </a:extLst>
          </p:cNvPr>
          <p:cNvSpPr/>
          <p:nvPr/>
        </p:nvSpPr>
        <p:spPr>
          <a:xfrm>
            <a:off x="6372913" y="3088048"/>
            <a:ext cx="2569464" cy="18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2400" b="1">
                <a:solidFill>
                  <a:srgbClr val="1F4E79"/>
                </a:solidFill>
                <a:latin typeface="Arial"/>
              </a:rPr>
              <a:t>1.35 ms</a:t>
            </a:r>
            <a:endParaRPr lang="en-US" sz="2100" dirty="0">
              <a:solidFill>
                <a:schemeClr val="accent1"/>
              </a:solidFill>
            </a:endParaRPr>
          </a:p>
        </p:txBody>
      </p:sp>
      <p:sp>
        <p:nvSpPr>
          <p:cNvPr id="88" name="Text 46">
            <a:extLst>
              <a:ext uri="{FF2B5EF4-FFF2-40B4-BE49-F238E27FC236}">
                <a16:creationId xmlns:a16="http://schemas.microsoft.com/office/drawing/2014/main" id="{D240B301-A33A-60B3-7AAC-05D4E4ACB841}"/>
              </a:ext>
            </a:extLst>
          </p:cNvPr>
          <p:cNvSpPr/>
          <p:nvPr/>
        </p:nvSpPr>
        <p:spPr>
          <a:xfrm>
            <a:off x="6372913" y="3394921"/>
            <a:ext cx="25694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00" b="0">
                <a:solidFill>
                  <a:srgbClr val="4A4A4A"/>
                </a:solidFill>
                <a:latin typeface="Arial"/>
              </a:rPr>
              <a:t>median exec time</a:t>
            </a:r>
            <a:endParaRPr lang="en-US" sz="760" dirty="0">
              <a:solidFill>
                <a:schemeClr val="accent1"/>
              </a:solidFill>
            </a:endParaRPr>
          </a:p>
        </p:txBody>
      </p:sp>
      <p:sp>
        <p:nvSpPr>
          <p:cNvPr id="89" name="Shape 47">
            <a:extLst>
              <a:ext uri="{FF2B5EF4-FFF2-40B4-BE49-F238E27FC236}">
                <a16:creationId xmlns:a16="http://schemas.microsoft.com/office/drawing/2014/main" id="{35616160-944B-9A79-476A-86EB0E3F8A03}"/>
              </a:ext>
            </a:extLst>
          </p:cNvPr>
          <p:cNvSpPr/>
          <p:nvPr/>
        </p:nvSpPr>
        <p:spPr>
          <a:xfrm>
            <a:off x="8942377" y="2808050"/>
            <a:ext cx="1088" cy="675998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Text 48">
            <a:extLst>
              <a:ext uri="{FF2B5EF4-FFF2-40B4-BE49-F238E27FC236}">
                <a16:creationId xmlns:a16="http://schemas.microsoft.com/office/drawing/2014/main" id="{8A80F605-E952-EE95-323B-43F49268BDE2}"/>
              </a:ext>
            </a:extLst>
          </p:cNvPr>
          <p:cNvSpPr/>
          <p:nvPr/>
        </p:nvSpPr>
        <p:spPr>
          <a:xfrm>
            <a:off x="9196826" y="3088048"/>
            <a:ext cx="2569464" cy="18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2400" b="1">
                <a:solidFill>
                  <a:srgbClr val="990000"/>
                </a:solidFill>
                <a:latin typeface="Arial"/>
              </a:rPr>
              <a:t>6.97 ms</a:t>
            </a:r>
            <a:endParaRPr lang="en-US" sz="2100" dirty="0">
              <a:solidFill>
                <a:srgbClr val="990000"/>
              </a:solidFill>
            </a:endParaRPr>
          </a:p>
        </p:txBody>
      </p:sp>
      <p:sp>
        <p:nvSpPr>
          <p:cNvPr id="91" name="Text 49">
            <a:extLst>
              <a:ext uri="{FF2B5EF4-FFF2-40B4-BE49-F238E27FC236}">
                <a16:creationId xmlns:a16="http://schemas.microsoft.com/office/drawing/2014/main" id="{A3C8A3FF-1DB4-0D88-90B6-8D07F668F4DD}"/>
              </a:ext>
            </a:extLst>
          </p:cNvPr>
          <p:cNvSpPr/>
          <p:nvPr/>
        </p:nvSpPr>
        <p:spPr>
          <a:xfrm>
            <a:off x="9196826" y="3394921"/>
            <a:ext cx="25694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00" b="0">
                <a:solidFill>
                  <a:srgbClr val="4A4A4A"/>
                </a:solidFill>
                <a:latin typeface="Arial"/>
              </a:rPr>
              <a:t>median exec time</a:t>
            </a:r>
            <a:endParaRPr lang="en-US" sz="760" dirty="0">
              <a:solidFill>
                <a:srgbClr val="990000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CB7E217-5BF1-FF35-A73A-45BDAACE9B30}"/>
              </a:ext>
            </a:extLst>
          </p:cNvPr>
          <p:cNvSpPr txBox="1"/>
          <p:nvPr/>
        </p:nvSpPr>
        <p:spPr>
          <a:xfrm>
            <a:off x="6263185" y="2676464"/>
            <a:ext cx="11708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kern="0" spc="150" dirty="0">
                <a:solidFill>
                  <a:schemeClr val="accent1"/>
                </a:solidFill>
                <a:latin typeface="+mj-lt"/>
                <a:cs typeface="Arial" pitchFamily="34" charset="-120"/>
              </a:rPr>
              <a:t>PostgreSQL</a:t>
            </a:r>
            <a:endParaRPr lang="ko-KR" altLang="en-US" sz="1200" dirty="0">
              <a:latin typeface="+mj-lt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AAEFE8D-0810-240F-C7F4-662A87BD3B07}"/>
              </a:ext>
            </a:extLst>
          </p:cNvPr>
          <p:cNvSpPr txBox="1"/>
          <p:nvPr/>
        </p:nvSpPr>
        <p:spPr>
          <a:xfrm>
            <a:off x="9083100" y="2681197"/>
            <a:ext cx="11708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kern="0" spc="150" dirty="0">
                <a:solidFill>
                  <a:srgbClr val="990000"/>
                </a:solidFill>
                <a:latin typeface="+mj-lt"/>
                <a:cs typeface="Arial" pitchFamily="34" charset="-120"/>
              </a:rPr>
              <a:t>Apache Age</a:t>
            </a:r>
            <a:endParaRPr lang="ko-KR" altLang="en-US" sz="1200" dirty="0">
              <a:solidFill>
                <a:srgbClr val="990000"/>
              </a:solidFill>
              <a:latin typeface="+mj-lt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502920" y="868680"/>
            <a:ext cx="5486400" cy="310896"/>
          </a:xfrm>
          <a:prstGeom prst="rect">
            <a:avLst/>
          </a:prstGeom>
          <a:noFill/>
        </p:spPr>
        <p:txBody>
          <a:bodyPr wrap="none" lIns="18288" tIns="0" rIns="18288" bIns="0">
            <a:spAutoFit/>
          </a:bodyPr>
          <a:lstStyle/>
          <a:p>
            <a:pPr algn="l"/>
            <a:r>
              <a:rPr sz="1400" b="1">
                <a:solidFill>
                  <a:srgbClr val="2C5F2D"/>
                </a:solidFill>
                <a:latin typeface="Arial"/>
              </a:rPr>
              <a:t>How we measured query performance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502920" y="1239012"/>
            <a:ext cx="5486400" cy="749808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0160">
            <a:solidFill>
              <a:srgbClr val="2C5F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1">
                <a:solidFill>
                  <a:srgbClr val="2C5F2D"/>
                </a:solidFill>
                <a:latin typeface="Arial"/>
              </a:rPr>
              <a:t>1. Build shared dataset</a:t>
            </a:r>
          </a:p>
          <a:p>
            <a:pPr algn="ctr"/>
            <a:r>
              <a:rPr sz="900">
                <a:solidFill>
                  <a:srgbClr val="1A1A1A"/>
                </a:solidFill>
                <a:latin typeface="Arial"/>
              </a:rPr>
              <a:t>369 Accounts, 324 Customers,</a:t>
            </a:r>
          </a:p>
          <a:p>
            <a:pPr algn="ctr"/>
            <a:r>
              <a:rPr sz="900">
                <a:solidFill>
                  <a:srgbClr val="1A1A1A"/>
                </a:solidFill>
                <a:latin typeface="Arial"/>
              </a:rPr>
              <a:t>1,896 TRANSFER edges (same rows in both stores)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502920" y="2080260"/>
            <a:ext cx="5486400" cy="749808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0160">
            <a:solidFill>
              <a:srgbClr val="2C5F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1">
                <a:solidFill>
                  <a:srgbClr val="2C5F2D"/>
                </a:solidFill>
                <a:latin typeface="Arial"/>
              </a:rPr>
              <a:t>2. Write equivalent detection queries</a:t>
            </a:r>
          </a:p>
          <a:p>
            <a:pPr algn="ctr"/>
            <a:r>
              <a:rPr sz="900">
                <a:solidFill>
                  <a:srgbClr val="1A1A1A"/>
                </a:solidFill>
                <a:latin typeface="Arial"/>
              </a:rPr>
              <a:t>Recursive / index-based SQL on public.transactions</a:t>
            </a:r>
          </a:p>
          <a:p>
            <a:pPr algn="ctr"/>
            <a:r>
              <a:rPr sz="900">
                <a:solidFill>
                  <a:srgbClr val="1A1A1A"/>
                </a:solidFill>
                <a:latin typeface="Arial"/>
              </a:rPr>
              <a:t>Cypher MATCH pattern on aml_graph."TRANSFER"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502920" y="2921508"/>
            <a:ext cx="5486400" cy="749808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0160">
            <a:solidFill>
              <a:srgbClr val="2C5F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1">
                <a:solidFill>
                  <a:srgbClr val="2C5F2D"/>
                </a:solidFill>
                <a:latin typeface="Arial"/>
              </a:rPr>
              <a:t>3. Warm the buffer cache</a:t>
            </a:r>
          </a:p>
          <a:p>
            <a:pPr algn="ctr"/>
            <a:r>
              <a:rPr sz="900">
                <a:solidFill>
                  <a:srgbClr val="1A1A1A"/>
                </a:solidFill>
                <a:latin typeface="Arial"/>
              </a:rPr>
              <a:t>Run each query once (discarded)</a:t>
            </a:r>
          </a:p>
          <a:p>
            <a:pPr algn="ctr"/>
            <a:r>
              <a:rPr sz="900">
                <a:solidFill>
                  <a:srgbClr val="1A1A1A"/>
                </a:solidFill>
                <a:latin typeface="Arial"/>
              </a:rPr>
              <a:t>so we compare warm-cache performance only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502920" y="3762756"/>
            <a:ext cx="5486400" cy="749808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0160">
            <a:solidFill>
              <a:srgbClr val="2C5F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1">
                <a:solidFill>
                  <a:srgbClr val="2C5F2D"/>
                </a:solidFill>
                <a:latin typeface="Arial"/>
              </a:rPr>
              <a:t>4. Run EXPLAIN (ANALYZE, BUFFERS) × 20</a:t>
            </a:r>
          </a:p>
          <a:p>
            <a:pPr algn="ctr"/>
            <a:r>
              <a:rPr sz="900">
                <a:solidFill>
                  <a:srgbClr val="1A1A1A"/>
                </a:solidFill>
                <a:latin typeface="Arial"/>
              </a:rPr>
              <a:t>20 trials per query per engine</a:t>
            </a:r>
          </a:p>
          <a:p>
            <a:pPr algn="ctr"/>
            <a:r>
              <a:rPr sz="900">
                <a:solidFill>
                  <a:srgbClr val="1A1A1A"/>
                </a:solidFill>
                <a:latin typeface="Arial"/>
              </a:rPr>
              <a:t>captures plan + actual time + buffers + rows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502920" y="4604004"/>
            <a:ext cx="5486400" cy="749808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0160">
            <a:solidFill>
              <a:srgbClr val="2C5F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1">
                <a:solidFill>
                  <a:srgbClr val="2C5F2D"/>
                </a:solidFill>
                <a:latin typeface="Arial"/>
              </a:rPr>
              <a:t>5. Aggregate per query</a:t>
            </a:r>
          </a:p>
          <a:p>
            <a:pPr algn="ctr"/>
            <a:r>
              <a:rPr sz="900">
                <a:solidFill>
                  <a:srgbClr val="1A1A1A"/>
                </a:solidFill>
                <a:latin typeface="Arial"/>
              </a:rPr>
              <a:t>median and trimmed-mean execution time,</a:t>
            </a:r>
          </a:p>
          <a:p>
            <a:pPr algn="ctr"/>
            <a:r>
              <a:rPr sz="900">
                <a:solidFill>
                  <a:srgbClr val="1A1A1A"/>
                </a:solidFill>
                <a:latin typeface="Arial"/>
              </a:rPr>
              <a:t>planning time, shared-buffer hits, row counts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502920" y="5445252"/>
            <a:ext cx="5486400" cy="749808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0160">
            <a:solidFill>
              <a:srgbClr val="2C5F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1">
                <a:solidFill>
                  <a:srgbClr val="2C5F2D"/>
                </a:solidFill>
                <a:latin typeface="Arial"/>
              </a:rPr>
              <a:t>6. Compare plan &amp; runtime side-by-side</a:t>
            </a:r>
          </a:p>
          <a:p>
            <a:pPr algn="ctr"/>
            <a:r>
              <a:rPr sz="900">
                <a:solidFill>
                  <a:srgbClr val="1A1A1A"/>
                </a:solidFill>
                <a:latin typeface="Arial"/>
              </a:rPr>
              <a:t>slides 10 &amp; 13 (operator trees)</a:t>
            </a:r>
          </a:p>
          <a:p>
            <a:pPr algn="ctr"/>
            <a:r>
              <a:rPr sz="900">
                <a:solidFill>
                  <a:srgbClr val="1A1A1A"/>
                </a:solidFill>
                <a:latin typeface="Arial"/>
              </a:rPr>
              <a:t>this slide (timing + why-slow analysis)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3246120" y="1988819"/>
            <a:ext cx="0" cy="91441"/>
          </a:xfrm>
          <a:prstGeom prst="bentConnector3">
            <a:avLst/>
          </a:prstGeom>
          <a:ln w="15875">
            <a:solidFill>
              <a:srgbClr val="2C5F2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3246120" y="2830068"/>
            <a:ext cx="0" cy="91440"/>
          </a:xfrm>
          <a:prstGeom prst="bentConnector3">
            <a:avLst/>
          </a:prstGeom>
          <a:ln w="15875">
            <a:solidFill>
              <a:srgbClr val="2C5F2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3246120" y="3671315"/>
            <a:ext cx="0" cy="91441"/>
          </a:xfrm>
          <a:prstGeom prst="bentConnector3">
            <a:avLst/>
          </a:prstGeom>
          <a:ln w="15875">
            <a:solidFill>
              <a:srgbClr val="2C5F2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3246120" y="4512564"/>
            <a:ext cx="0" cy="91440"/>
          </a:xfrm>
          <a:prstGeom prst="bentConnector3">
            <a:avLst/>
          </a:prstGeom>
          <a:ln w="15875">
            <a:solidFill>
              <a:srgbClr val="2C5F2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3246120" y="5353812"/>
            <a:ext cx="0" cy="91440"/>
          </a:xfrm>
          <a:prstGeom prst="bentConnector3">
            <a:avLst/>
          </a:prstGeom>
          <a:ln w="15875">
            <a:solidFill>
              <a:srgbClr val="2C5F2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6217920" y="3814358"/>
            <a:ext cx="4190058" cy="215444"/>
          </a:xfrm>
          <a:prstGeom prst="rect">
            <a:avLst/>
          </a:prstGeom>
          <a:noFill/>
        </p:spPr>
        <p:txBody>
          <a:bodyPr wrap="none" lIns="18288" tIns="0" rIns="18288" bIns="0">
            <a:spAutoFit/>
          </a:bodyPr>
          <a:lstStyle/>
          <a:p>
            <a:pPr algn="l"/>
            <a:r>
              <a:rPr lang="en-US" sz="1400" b="1" dirty="0">
                <a:solidFill>
                  <a:srgbClr val="990000"/>
                </a:solidFill>
                <a:latin typeface="Arial"/>
              </a:rPr>
              <a:t>Why it matters </a:t>
            </a:r>
            <a:r>
              <a:rPr lang="en-US" altLang="ko-KR" sz="1400" b="1" dirty="0">
                <a:solidFill>
                  <a:srgbClr val="990000"/>
                </a:solidFill>
                <a:latin typeface="Arial"/>
              </a:rPr>
              <a:t>(Exec time performance Analysis)</a:t>
            </a:r>
            <a:endParaRPr sz="1400" b="1" dirty="0">
              <a:solidFill>
                <a:srgbClr val="990000"/>
              </a:solidFill>
              <a:latin typeface="Arial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6217920" y="4219740"/>
            <a:ext cx="5532120" cy="1916935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" sz="1050" dirty="0">
                <a:solidFill>
                  <a:srgbClr val="1A1A1A"/>
                </a:solidFill>
                <a:latin typeface="Arial"/>
              </a:rPr>
              <a:t>Every property access on an AGE edge or vertex goes through </a:t>
            </a:r>
            <a:r>
              <a:rPr lang="en" sz="1050" dirty="0" err="1">
                <a:solidFill>
                  <a:srgbClr val="1A1A1A"/>
                </a:solidFill>
                <a:latin typeface="Arial"/>
              </a:rPr>
              <a:t>agtype_access_operator</a:t>
            </a:r>
            <a:r>
              <a:rPr lang="en" sz="1050" dirty="0">
                <a:solidFill>
                  <a:srgbClr val="1A1A1A"/>
                </a:solidFill>
                <a:latin typeface="Arial"/>
              </a:rPr>
              <a:t> and is then cast from </a:t>
            </a:r>
            <a:r>
              <a:rPr lang="en" sz="1050" dirty="0" err="1">
                <a:solidFill>
                  <a:srgbClr val="1A1A1A"/>
                </a:solidFill>
                <a:latin typeface="Arial"/>
              </a:rPr>
              <a:t>agtype</a:t>
            </a:r>
            <a:r>
              <a:rPr lang="en" sz="1050" dirty="0">
                <a:solidFill>
                  <a:srgbClr val="1A1A1A"/>
                </a:solidFill>
                <a:latin typeface="Arial"/>
              </a:rPr>
              <a:t> to the underlying Postgres type. That happens on every amount, </a:t>
            </a:r>
            <a:r>
              <a:rPr lang="en" sz="1050" dirty="0" err="1">
                <a:solidFill>
                  <a:srgbClr val="1A1A1A"/>
                </a:solidFill>
                <a:latin typeface="Arial"/>
              </a:rPr>
              <a:t>tx_time</a:t>
            </a:r>
            <a:r>
              <a:rPr lang="en" sz="1050" dirty="0">
                <a:solidFill>
                  <a:srgbClr val="1A1A1A"/>
                </a:solidFill>
                <a:latin typeface="Arial"/>
              </a:rPr>
              <a:t>, </a:t>
            </a:r>
            <a:r>
              <a:rPr lang="en" sz="1050" dirty="0" err="1">
                <a:solidFill>
                  <a:srgbClr val="1A1A1A"/>
                </a:solidFill>
                <a:latin typeface="Arial"/>
              </a:rPr>
              <a:t>account_id</a:t>
            </a:r>
            <a:r>
              <a:rPr lang="en" sz="1050" dirty="0">
                <a:solidFill>
                  <a:srgbClr val="1A1A1A"/>
                </a:solidFill>
                <a:latin typeface="Arial"/>
              </a:rPr>
              <a:t>, and </a:t>
            </a:r>
            <a:r>
              <a:rPr lang="en" sz="1050" dirty="0" err="1">
                <a:solidFill>
                  <a:srgbClr val="1A1A1A"/>
                </a:solidFill>
                <a:latin typeface="Arial"/>
              </a:rPr>
              <a:t>tx_id</a:t>
            </a:r>
            <a:r>
              <a:rPr lang="en" sz="1050" dirty="0">
                <a:solidFill>
                  <a:srgbClr val="1A1A1A"/>
                </a:solidFill>
                <a:latin typeface="Arial"/>
              </a:rPr>
              <a:t> — once per row, per join condition.</a:t>
            </a:r>
          </a:p>
          <a:p>
            <a:pPr marL="171450" indent="-171450" algn="l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" sz="1050" dirty="0">
                <a:solidFill>
                  <a:srgbClr val="1A1A1A"/>
                </a:solidFill>
                <a:latin typeface="Arial"/>
              </a:rPr>
              <a:t>The graph layer also forces extra vertex joins the relational plan never needs: a Hash Join on </a:t>
            </a:r>
            <a:r>
              <a:rPr lang="en" sz="1050" dirty="0" err="1">
                <a:solidFill>
                  <a:srgbClr val="1A1A1A"/>
                </a:solidFill>
                <a:latin typeface="Arial"/>
              </a:rPr>
              <a:t>aml_graph."Account</a:t>
            </a:r>
            <a:r>
              <a:rPr lang="en" sz="1050" dirty="0">
                <a:solidFill>
                  <a:srgbClr val="1A1A1A"/>
                </a:solidFill>
                <a:latin typeface="Arial"/>
              </a:rPr>
              <a:t>" to resolve the beneficiary before the outbound transfer (smurfing), and full TRANSFER + Account re-scans for every hop (cycle detection). _</a:t>
            </a:r>
            <a:r>
              <a:rPr lang="en" sz="1050" dirty="0" err="1">
                <a:solidFill>
                  <a:srgbClr val="1A1A1A"/>
                </a:solidFill>
                <a:latin typeface="Arial"/>
              </a:rPr>
              <a:t>ag_enforce_edge_uniqueness</a:t>
            </a:r>
            <a:r>
              <a:rPr lang="en" sz="1050" dirty="0">
                <a:solidFill>
                  <a:srgbClr val="1A1A1A"/>
                </a:solidFill>
                <a:latin typeface="Arial"/>
              </a:rPr>
              <a:t> adds a final filter on each edge.</a:t>
            </a:r>
          </a:p>
          <a:p>
            <a:pPr marL="171450" indent="-171450" algn="l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" sz="1050" dirty="0">
                <a:solidFill>
                  <a:srgbClr val="1A1A1A"/>
                </a:solidFill>
                <a:latin typeface="Arial"/>
              </a:rPr>
              <a:t>Buffer usage shows the impact clearly: smurfing touches 689 shared buffers on AGE versus 169 on SQL, and circular-trading touches roughly 10,648 buffers on AGE versus only 31 on the recursive SQL plan. The end result is ≈ 6× slower for smurfing and ≈ 5× slower for cycle detection, even though the Cypher is noticeably shorter to write.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10927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Evaluation, closing, and future scope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planning and execution times summarize the current answer to the research question.</a:t>
            </a:r>
            <a:endParaRPr lang="en-US" sz="9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078992"/>
          <a:ext cx="635508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223760" y="1078992"/>
            <a:ext cx="4434840" cy="1152144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7351776" y="1188720"/>
            <a:ext cx="4178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351776" y="1481328"/>
            <a:ext cx="4178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PostgreSQL stack can support both relational AML analysis and graph-style AML analysis on the same dataset.</a:t>
            </a:r>
            <a:endParaRPr lang="en-US" sz="805" dirty="0"/>
          </a:p>
        </p:txBody>
      </p:sp>
      <p:sp>
        <p:nvSpPr>
          <p:cNvPr id="9" name="Shape 6"/>
          <p:cNvSpPr/>
          <p:nvPr/>
        </p:nvSpPr>
        <p:spPr>
          <a:xfrm>
            <a:off x="7223760" y="2432304"/>
            <a:ext cx="443484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7351776" y="2542032"/>
            <a:ext cx="4178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takeaway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351776" y="2834640"/>
            <a:ext cx="4178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is faster on the current workload, especially for aggregation-heavy smurfing, because it avoids graph-layer property extraction.</a:t>
            </a:r>
            <a:endParaRPr lang="en-US" sz="805" dirty="0"/>
          </a:p>
        </p:txBody>
      </p:sp>
      <p:sp>
        <p:nvSpPr>
          <p:cNvPr id="12" name="Shape 9"/>
          <p:cNvSpPr/>
          <p:nvPr/>
        </p:nvSpPr>
        <p:spPr>
          <a:xfrm>
            <a:off x="7223760" y="3931920"/>
            <a:ext cx="4434840" cy="131673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7351776" y="4041648"/>
            <a:ext cx="4178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351776" y="4334256"/>
            <a:ext cx="4178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Fine-tune the graph further, enlarge the workload, and stress more traversal-heavy AML rules where the graph projection may matter more.</a:t>
            </a:r>
            <a:endParaRPr lang="en-US" sz="805" dirty="0"/>
          </a:p>
        </p:txBody>
      </p:sp>
      <p:sp>
        <p:nvSpPr>
          <p:cNvPr id="15" name="Shape 12"/>
          <p:cNvSpPr/>
          <p:nvPr/>
        </p:nvSpPr>
        <p:spPr>
          <a:xfrm>
            <a:off x="502920" y="5504688"/>
            <a:ext cx="11155680" cy="310896"/>
          </a:xfrm>
          <a:prstGeom prst="roundRect">
            <a:avLst>
              <a:gd name="adj" fmla="val 17647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621792" y="5596128"/>
            <a:ext cx="10917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5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takeaway: one-stack feasibility is proven, SQL is faster on the current workload, and future work is more graph tuning plus larger workloads.</a:t>
            </a:r>
            <a:endParaRPr lang="en-US" sz="815" dirty="0"/>
          </a:p>
        </p:txBody>
      </p:sp>
      <p:sp>
        <p:nvSpPr>
          <p:cNvPr id="17" name="Shape 14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530352" y="6473952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docs/reports/smurfing_sql_explain.txt; docs/reports/smurfing_age_explain.txt; docs/reports/cycle_recursive_explain.txt; docs/reports/cycle_cypher_tuned_explain.txt; 20 warm-cache runs.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10835640" y="645566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10927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Appendix A1: Live demo runbook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this sequence if the TA or instructor wants the exact classroom run path.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658368" cy="402336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57784" y="115214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1161288" y="1078992"/>
            <a:ext cx="2962656" cy="402336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216152" y="1152144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action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4123944" y="1078992"/>
            <a:ext cx="2962656" cy="402336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178808" y="1152144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confirmation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502920" y="1481328"/>
            <a:ext cx="65836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57784" y="1536192"/>
            <a:ext cx="548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1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15" dirty="0"/>
          </a:p>
        </p:txBody>
      </p:sp>
      <p:sp>
        <p:nvSpPr>
          <p:cNvPr id="13" name="Shape 11"/>
          <p:cNvSpPr/>
          <p:nvPr/>
        </p:nvSpPr>
        <p:spPr>
          <a:xfrm>
            <a:off x="1161288" y="1481328"/>
            <a:ext cx="2962656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216152" y="1536192"/>
            <a:ext cx="28529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1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the research question and why graph analysis matters in AML.</a:t>
            </a:r>
            <a:endParaRPr lang="en-US" sz="715" dirty="0"/>
          </a:p>
        </p:txBody>
      </p:sp>
      <p:sp>
        <p:nvSpPr>
          <p:cNvPr id="15" name="Shape 13"/>
          <p:cNvSpPr/>
          <p:nvPr/>
        </p:nvSpPr>
        <p:spPr>
          <a:xfrm>
            <a:off x="4123944" y="1481328"/>
            <a:ext cx="2962656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178808" y="1536192"/>
            <a:ext cx="28529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1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 knows the demo is about one-stack feasibility plus internals.</a:t>
            </a:r>
            <a:endParaRPr lang="en-US" sz="715" dirty="0"/>
          </a:p>
        </p:txBody>
      </p:sp>
      <p:sp>
        <p:nvSpPr>
          <p:cNvPr id="17" name="Shape 15"/>
          <p:cNvSpPr/>
          <p:nvPr/>
        </p:nvSpPr>
        <p:spPr>
          <a:xfrm>
            <a:off x="502920" y="1984248"/>
            <a:ext cx="658368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57784" y="2039112"/>
            <a:ext cx="548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1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15" dirty="0"/>
          </a:p>
        </p:txBody>
      </p:sp>
      <p:sp>
        <p:nvSpPr>
          <p:cNvPr id="19" name="Shape 17"/>
          <p:cNvSpPr/>
          <p:nvPr/>
        </p:nvSpPr>
        <p:spPr>
          <a:xfrm>
            <a:off x="1161288" y="1984248"/>
            <a:ext cx="2962656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216152" y="2039112"/>
            <a:ext cx="28529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1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./scripts/reset_pipeline.sh.</a:t>
            </a:r>
            <a:endParaRPr lang="en-US" sz="715" dirty="0"/>
          </a:p>
        </p:txBody>
      </p:sp>
      <p:sp>
        <p:nvSpPr>
          <p:cNvPr id="21" name="Shape 19"/>
          <p:cNvSpPr/>
          <p:nvPr/>
        </p:nvSpPr>
        <p:spPr>
          <a:xfrm>
            <a:off x="4123944" y="1984248"/>
            <a:ext cx="2962656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178808" y="2039112"/>
            <a:ext cx="28529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1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Schema, data load, and AGE projection finish successfully.</a:t>
            </a:r>
            <a:endParaRPr lang="en-US" sz="715" dirty="0"/>
          </a:p>
        </p:txBody>
      </p:sp>
      <p:sp>
        <p:nvSpPr>
          <p:cNvPr id="23" name="Shape 21"/>
          <p:cNvSpPr/>
          <p:nvPr/>
        </p:nvSpPr>
        <p:spPr>
          <a:xfrm>
            <a:off x="502920" y="2487168"/>
            <a:ext cx="65836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57784" y="2542032"/>
            <a:ext cx="548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1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15" dirty="0"/>
          </a:p>
        </p:txBody>
      </p:sp>
      <p:sp>
        <p:nvSpPr>
          <p:cNvPr id="25" name="Shape 23"/>
          <p:cNvSpPr/>
          <p:nvPr/>
        </p:nvSpPr>
        <p:spPr>
          <a:xfrm>
            <a:off x="1161288" y="2487168"/>
            <a:ext cx="2962656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1216152" y="2542032"/>
            <a:ext cx="28529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1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smurfing SQL.</a:t>
            </a:r>
            <a:endParaRPr lang="en-US" sz="715" dirty="0"/>
          </a:p>
        </p:txBody>
      </p:sp>
      <p:sp>
        <p:nvSpPr>
          <p:cNvPr id="27" name="Shape 25"/>
          <p:cNvSpPr/>
          <p:nvPr/>
        </p:nvSpPr>
        <p:spPr>
          <a:xfrm>
            <a:off x="4123944" y="2487168"/>
            <a:ext cx="2962656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4178808" y="2542032"/>
            <a:ext cx="28529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1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detections appear from the relational query path.</a:t>
            </a:r>
            <a:endParaRPr lang="en-US" sz="715" dirty="0"/>
          </a:p>
        </p:txBody>
      </p:sp>
      <p:sp>
        <p:nvSpPr>
          <p:cNvPr id="29" name="Shape 27"/>
          <p:cNvSpPr/>
          <p:nvPr/>
        </p:nvSpPr>
        <p:spPr>
          <a:xfrm>
            <a:off x="502920" y="2990088"/>
            <a:ext cx="658368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557784" y="3044952"/>
            <a:ext cx="548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1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15" dirty="0"/>
          </a:p>
        </p:txBody>
      </p:sp>
      <p:sp>
        <p:nvSpPr>
          <p:cNvPr id="31" name="Shape 29"/>
          <p:cNvSpPr/>
          <p:nvPr/>
        </p:nvSpPr>
        <p:spPr>
          <a:xfrm>
            <a:off x="1161288" y="2990088"/>
            <a:ext cx="2962656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1216152" y="3044952"/>
            <a:ext cx="28529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1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smurfing AGE.</a:t>
            </a:r>
            <a:endParaRPr lang="en-US" sz="715" dirty="0"/>
          </a:p>
        </p:txBody>
      </p:sp>
      <p:sp>
        <p:nvSpPr>
          <p:cNvPr id="33" name="Shape 31"/>
          <p:cNvSpPr/>
          <p:nvPr/>
        </p:nvSpPr>
        <p:spPr>
          <a:xfrm>
            <a:off x="4123944" y="2990088"/>
            <a:ext cx="2962656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4178808" y="3044952"/>
            <a:ext cx="28529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1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9 detections appear from the Cypher path.</a:t>
            </a:r>
            <a:endParaRPr lang="en-US" sz="715" dirty="0"/>
          </a:p>
        </p:txBody>
      </p:sp>
      <p:sp>
        <p:nvSpPr>
          <p:cNvPr id="35" name="Shape 33"/>
          <p:cNvSpPr/>
          <p:nvPr/>
        </p:nvSpPr>
        <p:spPr>
          <a:xfrm>
            <a:off x="502920" y="3493008"/>
            <a:ext cx="65836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557784" y="3547872"/>
            <a:ext cx="548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1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15" dirty="0"/>
          </a:p>
        </p:txBody>
      </p:sp>
      <p:sp>
        <p:nvSpPr>
          <p:cNvPr id="37" name="Shape 35"/>
          <p:cNvSpPr/>
          <p:nvPr/>
        </p:nvSpPr>
        <p:spPr>
          <a:xfrm>
            <a:off x="1161288" y="3493008"/>
            <a:ext cx="2962656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1216152" y="3547872"/>
            <a:ext cx="28529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1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circular recursive SQL and tuned Cypher.</a:t>
            </a:r>
            <a:endParaRPr lang="en-US" sz="715" dirty="0"/>
          </a:p>
        </p:txBody>
      </p:sp>
      <p:sp>
        <p:nvSpPr>
          <p:cNvPr id="39" name="Shape 37"/>
          <p:cNvSpPr/>
          <p:nvPr/>
        </p:nvSpPr>
        <p:spPr>
          <a:xfrm>
            <a:off x="4123944" y="3493008"/>
            <a:ext cx="2962656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4178808" y="3547872"/>
            <a:ext cx="28529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1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loop queries return 9 detections.</a:t>
            </a:r>
            <a:endParaRPr lang="en-US" sz="715" dirty="0"/>
          </a:p>
        </p:txBody>
      </p:sp>
      <p:sp>
        <p:nvSpPr>
          <p:cNvPr id="41" name="Shape 39"/>
          <p:cNvSpPr/>
          <p:nvPr/>
        </p:nvSpPr>
        <p:spPr>
          <a:xfrm>
            <a:off x="502920" y="3995928"/>
            <a:ext cx="658368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557784" y="4050792"/>
            <a:ext cx="548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1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15" dirty="0"/>
          </a:p>
        </p:txBody>
      </p:sp>
      <p:sp>
        <p:nvSpPr>
          <p:cNvPr id="43" name="Shape 41"/>
          <p:cNvSpPr/>
          <p:nvPr/>
        </p:nvSpPr>
        <p:spPr>
          <a:xfrm>
            <a:off x="1161288" y="3995928"/>
            <a:ext cx="2962656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1216152" y="4050792"/>
            <a:ext cx="28529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1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on EXPLAIN medians and focus areas.</a:t>
            </a:r>
            <a:endParaRPr lang="en-US" sz="715" dirty="0"/>
          </a:p>
        </p:txBody>
      </p:sp>
      <p:sp>
        <p:nvSpPr>
          <p:cNvPr id="45" name="Shape 43"/>
          <p:cNvSpPr/>
          <p:nvPr/>
        </p:nvSpPr>
        <p:spPr>
          <a:xfrm>
            <a:off x="4123944" y="3995928"/>
            <a:ext cx="2962656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4178808" y="4050792"/>
            <a:ext cx="28529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1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Architecture and Query Execution explain the runtime gap.</a:t>
            </a:r>
            <a:endParaRPr lang="en-US" sz="715" dirty="0"/>
          </a:p>
        </p:txBody>
      </p:sp>
      <p:sp>
        <p:nvSpPr>
          <p:cNvPr id="47" name="Shape 45"/>
          <p:cNvSpPr/>
          <p:nvPr/>
        </p:nvSpPr>
        <p:spPr>
          <a:xfrm>
            <a:off x="7315200" y="1078992"/>
            <a:ext cx="4343400" cy="3895344"/>
          </a:xfrm>
          <a:prstGeom prst="roundRect">
            <a:avLst>
              <a:gd name="adj" fmla="val 1408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7443216" y="1188720"/>
            <a:ext cx="4087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REPRESENTATIVE COMMANDS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7461504" y="1463040"/>
            <a:ext cx="4050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./scripts/reset_pipeline.sh</a:t>
            </a:r>
            <a:endParaRPr lang="en-US" sz="740" dirty="0"/>
          </a:p>
        </p:txBody>
      </p:sp>
      <p:sp>
        <p:nvSpPr>
          <p:cNvPr id="50" name="Text 48"/>
          <p:cNvSpPr/>
          <p:nvPr/>
        </p:nvSpPr>
        <p:spPr>
          <a:xfrm>
            <a:off x="7461504" y="1682496"/>
            <a:ext cx="4050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exec -i -w /workspace apache-age \</a:t>
            </a:r>
            <a:endParaRPr lang="en-US" sz="740" dirty="0"/>
          </a:p>
        </p:txBody>
      </p:sp>
      <p:sp>
        <p:nvSpPr>
          <p:cNvPr id="51" name="Text 49"/>
          <p:cNvSpPr/>
          <p:nvPr/>
        </p:nvSpPr>
        <p:spPr>
          <a:xfrm>
            <a:off x="7461504" y="1901952"/>
            <a:ext cx="4050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psql -U postgres -d hybrid_aml \</a:t>
            </a:r>
            <a:endParaRPr lang="en-US" sz="740" dirty="0"/>
          </a:p>
        </p:txBody>
      </p:sp>
      <p:sp>
        <p:nvSpPr>
          <p:cNvPr id="52" name="Text 50"/>
          <p:cNvSpPr/>
          <p:nvPr/>
        </p:nvSpPr>
        <p:spPr>
          <a:xfrm>
            <a:off x="7461504" y="2121408"/>
            <a:ext cx="4050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 database/queries/smurfing_detection.sql</a:t>
            </a:r>
            <a:endParaRPr lang="en-US" sz="740" dirty="0"/>
          </a:p>
        </p:txBody>
      </p:sp>
      <p:sp>
        <p:nvSpPr>
          <p:cNvPr id="53" name="Text 51"/>
          <p:cNvSpPr/>
          <p:nvPr/>
        </p:nvSpPr>
        <p:spPr>
          <a:xfrm>
            <a:off x="7461504" y="2340864"/>
            <a:ext cx="4050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exec -i -w /workspace apache-age \</a:t>
            </a:r>
            <a:endParaRPr lang="en-US" sz="740" dirty="0"/>
          </a:p>
        </p:txBody>
      </p:sp>
      <p:sp>
        <p:nvSpPr>
          <p:cNvPr id="54" name="Text 52"/>
          <p:cNvSpPr/>
          <p:nvPr/>
        </p:nvSpPr>
        <p:spPr>
          <a:xfrm>
            <a:off x="7461504" y="2560320"/>
            <a:ext cx="4050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 database/queries/smurfing_detection_age.sql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7461504" y="2779776"/>
            <a:ext cx="4050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exec -i -w /workspace apache-age \</a:t>
            </a:r>
            <a:endParaRPr lang="en-US" sz="740" dirty="0"/>
          </a:p>
        </p:txBody>
      </p:sp>
      <p:sp>
        <p:nvSpPr>
          <p:cNvPr id="56" name="Text 54"/>
          <p:cNvSpPr/>
          <p:nvPr/>
        </p:nvSpPr>
        <p:spPr>
          <a:xfrm>
            <a:off x="7461504" y="2999232"/>
            <a:ext cx="4050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 database/queries/circular_trading_recursive.sql</a:t>
            </a:r>
            <a:endParaRPr lang="en-US" sz="740" dirty="0"/>
          </a:p>
        </p:txBody>
      </p:sp>
      <p:sp>
        <p:nvSpPr>
          <p:cNvPr id="57" name="Text 55"/>
          <p:cNvSpPr/>
          <p:nvPr/>
        </p:nvSpPr>
        <p:spPr>
          <a:xfrm>
            <a:off x="7461504" y="3218688"/>
            <a:ext cx="4050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exec -i -w /workspace apache-age \</a:t>
            </a:r>
            <a:endParaRPr lang="en-US" sz="740" dirty="0"/>
          </a:p>
        </p:txBody>
      </p:sp>
      <p:sp>
        <p:nvSpPr>
          <p:cNvPr id="58" name="Text 56"/>
          <p:cNvSpPr/>
          <p:nvPr/>
        </p:nvSpPr>
        <p:spPr>
          <a:xfrm>
            <a:off x="7461504" y="3438144"/>
            <a:ext cx="4050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 database/queries/circular_trading_cypher_tuned.sql</a:t>
            </a:r>
            <a:endParaRPr lang="en-US" sz="740" dirty="0"/>
          </a:p>
        </p:txBody>
      </p:sp>
      <p:sp>
        <p:nvSpPr>
          <p:cNvPr id="59" name="Shape 57"/>
          <p:cNvSpPr/>
          <p:nvPr/>
        </p:nvSpPr>
        <p:spPr>
          <a:xfrm>
            <a:off x="502920" y="5193792"/>
            <a:ext cx="1115568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8"/>
          <p:cNvSpPr/>
          <p:nvPr/>
        </p:nvSpPr>
        <p:spPr>
          <a:xfrm>
            <a:off x="630936" y="5303520"/>
            <a:ext cx="10899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note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30936" y="5596128"/>
            <a:ext cx="10899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time is tight, run reset first and then show one SQL path plus one tuned Cypher path before returning to the evaluation slide.</a:t>
            </a:r>
            <a:endParaRPr lang="en-US" sz="805" dirty="0"/>
          </a:p>
        </p:txBody>
      </p:sp>
      <p:sp>
        <p:nvSpPr>
          <p:cNvPr id="62" name="Shape 60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1"/>
          <p:cNvSpPr/>
          <p:nvPr/>
        </p:nvSpPr>
        <p:spPr>
          <a:xfrm>
            <a:off x="530352" y="6473952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README.md; scripts/reset_pipeline.sh; database/queries/.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10835640" y="645566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10927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Appendix A2: TA / instructor runnable checklist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appendix maps each rubric artifact to the repository evidence that satisfies it.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2677363" cy="402336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57784" y="1152144"/>
            <a:ext cx="25676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3180283" y="1078992"/>
            <a:ext cx="4016045" cy="402336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235147" y="1152144"/>
            <a:ext cx="390631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7196328" y="1078992"/>
            <a:ext cx="4462272" cy="402336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251192" y="1152144"/>
            <a:ext cx="4352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satisfied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502920" y="1481328"/>
            <a:ext cx="2677363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57784" y="1536192"/>
            <a:ext cx="25676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source code</a:t>
            </a:r>
            <a:endParaRPr lang="en-US" sz="735" dirty="0"/>
          </a:p>
        </p:txBody>
      </p:sp>
      <p:sp>
        <p:nvSpPr>
          <p:cNvPr id="13" name="Shape 11"/>
          <p:cNvSpPr/>
          <p:nvPr/>
        </p:nvSpPr>
        <p:spPr>
          <a:xfrm>
            <a:off x="3180283" y="1481328"/>
            <a:ext cx="401604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235147" y="1536192"/>
            <a:ext cx="390631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database/, src/, docs/demo/</a:t>
            </a:r>
            <a:endParaRPr lang="en-US" sz="735" dirty="0"/>
          </a:p>
        </p:txBody>
      </p:sp>
      <p:sp>
        <p:nvSpPr>
          <p:cNvPr id="15" name="Shape 13"/>
          <p:cNvSpPr/>
          <p:nvPr/>
        </p:nvSpPr>
        <p:spPr>
          <a:xfrm>
            <a:off x="7196328" y="1481328"/>
            <a:ext cx="446227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251192" y="153619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repo contains the SQL, Cypher, generation logic, and deck source used in the demo.</a:t>
            </a:r>
            <a:endParaRPr lang="en-US" sz="735" dirty="0"/>
          </a:p>
        </p:txBody>
      </p:sp>
      <p:sp>
        <p:nvSpPr>
          <p:cNvPr id="17" name="Shape 15"/>
          <p:cNvSpPr/>
          <p:nvPr/>
        </p:nvSpPr>
        <p:spPr>
          <a:xfrm>
            <a:off x="502920" y="2139696"/>
            <a:ext cx="2677363" cy="65836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57784" y="2194560"/>
            <a:ext cx="25676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schema/setup scripts</a:t>
            </a:r>
            <a:endParaRPr lang="en-US" sz="735" dirty="0"/>
          </a:p>
        </p:txBody>
      </p:sp>
      <p:sp>
        <p:nvSpPr>
          <p:cNvPr id="19" name="Shape 17"/>
          <p:cNvSpPr/>
          <p:nvPr/>
        </p:nvSpPr>
        <p:spPr>
          <a:xfrm>
            <a:off x="3180283" y="2139696"/>
            <a:ext cx="4016045" cy="65836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3235147" y="2194560"/>
            <a:ext cx="390631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001_schema.sql, setup_age.sql, load_age_graph*.sql</a:t>
            </a:r>
            <a:endParaRPr lang="en-US" sz="735" dirty="0"/>
          </a:p>
        </p:txBody>
      </p:sp>
      <p:sp>
        <p:nvSpPr>
          <p:cNvPr id="21" name="Shape 19"/>
          <p:cNvSpPr/>
          <p:nvPr/>
        </p:nvSpPr>
        <p:spPr>
          <a:xfrm>
            <a:off x="7196328" y="2139696"/>
            <a:ext cx="4462272" cy="65836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251192" y="2194560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reviewer can recreate the relational schema and both graph projections.</a:t>
            </a:r>
            <a:endParaRPr lang="en-US" sz="735" dirty="0"/>
          </a:p>
        </p:txBody>
      </p:sp>
      <p:sp>
        <p:nvSpPr>
          <p:cNvPr id="23" name="Shape 21"/>
          <p:cNvSpPr/>
          <p:nvPr/>
        </p:nvSpPr>
        <p:spPr>
          <a:xfrm>
            <a:off x="502920" y="2798064"/>
            <a:ext cx="2677363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57784" y="2852928"/>
            <a:ext cx="25676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Instructions to run</a:t>
            </a:r>
            <a:endParaRPr lang="en-US" sz="735" dirty="0"/>
          </a:p>
        </p:txBody>
      </p:sp>
      <p:sp>
        <p:nvSpPr>
          <p:cNvPr id="25" name="Shape 23"/>
          <p:cNvSpPr/>
          <p:nvPr/>
        </p:nvSpPr>
        <p:spPr>
          <a:xfrm>
            <a:off x="3180283" y="2798064"/>
            <a:ext cx="401604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3235147" y="2852928"/>
            <a:ext cx="390631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README.md and reset_pipeline.sh</a:t>
            </a:r>
            <a:endParaRPr lang="en-US" sz="735" dirty="0"/>
          </a:p>
        </p:txBody>
      </p:sp>
      <p:sp>
        <p:nvSpPr>
          <p:cNvPr id="27" name="Shape 25"/>
          <p:cNvSpPr/>
          <p:nvPr/>
        </p:nvSpPr>
        <p:spPr>
          <a:xfrm>
            <a:off x="7196328" y="2798064"/>
            <a:ext cx="446227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7251192" y="2852928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run order is documented and repeatable from the repo root.</a:t>
            </a:r>
            <a:endParaRPr lang="en-US" sz="735" dirty="0"/>
          </a:p>
        </p:txBody>
      </p:sp>
      <p:sp>
        <p:nvSpPr>
          <p:cNvPr id="29" name="Shape 27"/>
          <p:cNvSpPr/>
          <p:nvPr/>
        </p:nvSpPr>
        <p:spPr>
          <a:xfrm>
            <a:off x="502920" y="3456432"/>
            <a:ext cx="2677363" cy="65836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557784" y="3511296"/>
            <a:ext cx="25676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dataset</a:t>
            </a:r>
            <a:endParaRPr lang="en-US" sz="735" dirty="0"/>
          </a:p>
        </p:txBody>
      </p:sp>
      <p:sp>
        <p:nvSpPr>
          <p:cNvPr id="31" name="Shape 29"/>
          <p:cNvSpPr/>
          <p:nvPr/>
        </p:nvSpPr>
        <p:spPr>
          <a:xfrm>
            <a:off x="3180283" y="3456432"/>
            <a:ext cx="4016045" cy="65836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3235147" y="3511296"/>
            <a:ext cx="390631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data/synthetic/*.csv</a:t>
            </a:r>
            <a:endParaRPr lang="en-US" sz="735" dirty="0"/>
          </a:p>
        </p:txBody>
      </p:sp>
      <p:sp>
        <p:nvSpPr>
          <p:cNvPr id="33" name="Shape 31"/>
          <p:cNvSpPr/>
          <p:nvPr/>
        </p:nvSpPr>
        <p:spPr>
          <a:xfrm>
            <a:off x="7196328" y="3456432"/>
            <a:ext cx="4462272" cy="65836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7251192" y="3511296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dataset is compact enough for classroom reruns and labeled enough for correctness checks.</a:t>
            </a:r>
            <a:endParaRPr lang="en-US" sz="735" dirty="0"/>
          </a:p>
        </p:txBody>
      </p:sp>
      <p:sp>
        <p:nvSpPr>
          <p:cNvPr id="35" name="Shape 33"/>
          <p:cNvSpPr/>
          <p:nvPr/>
        </p:nvSpPr>
        <p:spPr>
          <a:xfrm>
            <a:off x="502920" y="4114800"/>
            <a:ext cx="2677363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557784" y="4169664"/>
            <a:ext cx="25676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Runnable demo queries</a:t>
            </a:r>
            <a:endParaRPr lang="en-US" sz="735" dirty="0"/>
          </a:p>
        </p:txBody>
      </p:sp>
      <p:sp>
        <p:nvSpPr>
          <p:cNvPr id="37" name="Shape 35"/>
          <p:cNvSpPr/>
          <p:nvPr/>
        </p:nvSpPr>
        <p:spPr>
          <a:xfrm>
            <a:off x="3180283" y="4114800"/>
            <a:ext cx="401604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3235147" y="4169664"/>
            <a:ext cx="390631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smurfing_detection*.sql and circular_trading*.sql</a:t>
            </a:r>
            <a:endParaRPr lang="en-US" sz="735" dirty="0"/>
          </a:p>
        </p:txBody>
      </p:sp>
      <p:sp>
        <p:nvSpPr>
          <p:cNvPr id="39" name="Shape 37"/>
          <p:cNvSpPr/>
          <p:nvPr/>
        </p:nvSpPr>
        <p:spPr>
          <a:xfrm>
            <a:off x="7196328" y="4114800"/>
            <a:ext cx="446227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7251192" y="4169664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major operation has executable queries and matching EXPLAIN evidence.</a:t>
            </a:r>
            <a:endParaRPr lang="en-US" sz="735" dirty="0"/>
          </a:p>
        </p:txBody>
      </p:sp>
      <p:sp>
        <p:nvSpPr>
          <p:cNvPr id="41" name="Shape 39"/>
          <p:cNvSpPr/>
          <p:nvPr/>
        </p:nvSpPr>
        <p:spPr>
          <a:xfrm>
            <a:off x="502920" y="5321808"/>
            <a:ext cx="11155680" cy="530352"/>
          </a:xfrm>
          <a:prstGeom prst="roundRect">
            <a:avLst>
              <a:gd name="adj" fmla="val 10345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612648" y="5417271"/>
            <a:ext cx="2569464" cy="18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Code</a:t>
            </a:r>
            <a:endParaRPr lang="en-US" sz="2100" dirty="0"/>
          </a:p>
        </p:txBody>
      </p:sp>
      <p:sp>
        <p:nvSpPr>
          <p:cNvPr id="43" name="Text 41"/>
          <p:cNvSpPr/>
          <p:nvPr/>
        </p:nvSpPr>
        <p:spPr>
          <a:xfrm>
            <a:off x="612648" y="5724144"/>
            <a:ext cx="25694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source</a:t>
            </a:r>
            <a:endParaRPr lang="en-US" sz="760" dirty="0"/>
          </a:p>
        </p:txBody>
      </p:sp>
      <p:sp>
        <p:nvSpPr>
          <p:cNvPr id="44" name="Shape 42"/>
          <p:cNvSpPr/>
          <p:nvPr/>
        </p:nvSpPr>
        <p:spPr>
          <a:xfrm>
            <a:off x="3291840" y="5413248"/>
            <a:ext cx="0" cy="347472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3401568" y="5417271"/>
            <a:ext cx="2569464" cy="18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Schema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3401568" y="5724144"/>
            <a:ext cx="25694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scripts</a:t>
            </a:r>
            <a:endParaRPr lang="en-US" sz="760" dirty="0"/>
          </a:p>
        </p:txBody>
      </p:sp>
      <p:sp>
        <p:nvSpPr>
          <p:cNvPr id="47" name="Shape 45"/>
          <p:cNvSpPr/>
          <p:nvPr/>
        </p:nvSpPr>
        <p:spPr>
          <a:xfrm>
            <a:off x="6080760" y="5413248"/>
            <a:ext cx="0" cy="347472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6190488" y="5417271"/>
            <a:ext cx="2569464" cy="18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</a:t>
            </a:r>
            <a:endParaRPr lang="en-US" sz="2100" dirty="0"/>
          </a:p>
        </p:txBody>
      </p:sp>
      <p:sp>
        <p:nvSpPr>
          <p:cNvPr id="49" name="Text 47"/>
          <p:cNvSpPr/>
          <p:nvPr/>
        </p:nvSpPr>
        <p:spPr>
          <a:xfrm>
            <a:off x="6190488" y="5724144"/>
            <a:ext cx="25694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workload</a:t>
            </a:r>
            <a:endParaRPr lang="en-US" sz="760" dirty="0"/>
          </a:p>
        </p:txBody>
      </p:sp>
      <p:sp>
        <p:nvSpPr>
          <p:cNvPr id="50" name="Shape 48"/>
          <p:cNvSpPr/>
          <p:nvPr/>
        </p:nvSpPr>
        <p:spPr>
          <a:xfrm>
            <a:off x="8869680" y="5413248"/>
            <a:ext cx="0" cy="347472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8979408" y="5417271"/>
            <a:ext cx="2569464" cy="18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Instructions to run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8979408" y="5724144"/>
            <a:ext cx="25694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 path</a:t>
            </a:r>
            <a:endParaRPr lang="en-US" sz="760" dirty="0"/>
          </a:p>
        </p:txBody>
      </p:sp>
      <p:sp>
        <p:nvSpPr>
          <p:cNvPr id="53" name="Text 51"/>
          <p:cNvSpPr/>
          <p:nvPr/>
        </p:nvSpPr>
        <p:spPr>
          <a:xfrm>
            <a:off x="530352" y="5961888"/>
            <a:ext cx="10972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use: this slide is the quick proof that the demo is genuinely runnable without hidden setup steps.</a:t>
            </a:r>
            <a:endParaRPr lang="en-US" sz="690" dirty="0"/>
          </a:p>
        </p:txBody>
      </p:sp>
      <p:sp>
        <p:nvSpPr>
          <p:cNvPr id="54" name="Shape 52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530352" y="6473952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README.md; database/; scripts/reset_pipeline.sh; data/synthetic/.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10835640" y="645566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10927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Appendix A3: Backup evidence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workflow and earlier evidence figures available for Q&amp;A without crowding the main story.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024128"/>
            <a:ext cx="5440680" cy="4315968"/>
          </a:xfrm>
          <a:prstGeom prst="roundRect">
            <a:avLst>
              <a:gd name="adj" fmla="val 127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/Users/chan/Desktop/DSCI 551 Project/DSCI-551-Data-Base-Course-Project/docs/demo/setting_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59992"/>
            <a:ext cx="5166360" cy="34442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17920" y="1024128"/>
            <a:ext cx="5440680" cy="4315968"/>
          </a:xfrm>
          <a:prstGeom prst="roundRect">
            <a:avLst>
              <a:gd name="adj" fmla="val 127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/Users/chan/Desktop/DSCI 551 Project/DSCI-551-Data-Base-Course-Project/docs/demo/assets/midterm_schema_and_expl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2335" y="1170432"/>
            <a:ext cx="4711849" cy="40233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0352" y="5413248"/>
            <a:ext cx="10972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reading: use the workflow image for reproducibility questions and the midterm crop for schema/result backup during Q&amp;A.</a:t>
            </a:r>
            <a:endParaRPr lang="en-US" sz="690" dirty="0"/>
          </a:p>
        </p:txBody>
      </p:sp>
      <p:sp>
        <p:nvSpPr>
          <p:cNvPr id="10" name="Shape 6"/>
          <p:cNvSpPr/>
          <p:nvPr/>
        </p:nvSpPr>
        <p:spPr>
          <a:xfrm>
            <a:off x="502920" y="5632704"/>
            <a:ext cx="11155680" cy="457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/>
          <p:nvPr/>
        </p:nvSpPr>
        <p:spPr>
          <a:xfrm>
            <a:off x="612648" y="5715000"/>
            <a:ext cx="25694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0.443 ms</a:t>
            </a:r>
            <a:endParaRPr lang="en-US" sz="2100" dirty="0"/>
          </a:p>
        </p:txBody>
      </p:sp>
      <p:sp>
        <p:nvSpPr>
          <p:cNvPr id="12" name="Text 8"/>
          <p:cNvSpPr/>
          <p:nvPr/>
        </p:nvSpPr>
        <p:spPr>
          <a:xfrm>
            <a:off x="612648" y="5961888"/>
            <a:ext cx="25694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smurf SQL exec</a:t>
            </a:r>
            <a:endParaRPr lang="en-US" sz="760" dirty="0"/>
          </a:p>
        </p:txBody>
      </p:sp>
      <p:sp>
        <p:nvSpPr>
          <p:cNvPr id="13" name="Shape 9"/>
          <p:cNvSpPr/>
          <p:nvPr/>
        </p:nvSpPr>
        <p:spPr>
          <a:xfrm>
            <a:off x="3291840" y="5724144"/>
            <a:ext cx="0" cy="27432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/>
          <p:nvPr/>
        </p:nvSpPr>
        <p:spPr>
          <a:xfrm>
            <a:off x="3401568" y="5715000"/>
            <a:ext cx="25694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2.503 ms</a:t>
            </a:r>
            <a:endParaRPr lang="en-US" sz="2100" dirty="0"/>
          </a:p>
        </p:txBody>
      </p:sp>
      <p:sp>
        <p:nvSpPr>
          <p:cNvPr id="15" name="Text 11"/>
          <p:cNvSpPr/>
          <p:nvPr/>
        </p:nvSpPr>
        <p:spPr>
          <a:xfrm>
            <a:off x="3401568" y="5961888"/>
            <a:ext cx="25694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smurf AGE exec</a:t>
            </a:r>
            <a:endParaRPr lang="en-US" sz="760" dirty="0"/>
          </a:p>
        </p:txBody>
      </p:sp>
      <p:sp>
        <p:nvSpPr>
          <p:cNvPr id="16" name="Shape 12"/>
          <p:cNvSpPr/>
          <p:nvPr/>
        </p:nvSpPr>
        <p:spPr>
          <a:xfrm>
            <a:off x="6080760" y="5724144"/>
            <a:ext cx="0" cy="27432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/>
          <p:nvPr/>
        </p:nvSpPr>
        <p:spPr>
          <a:xfrm>
            <a:off x="6190488" y="5715000"/>
            <a:ext cx="25694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1.303 ms</a:t>
            </a:r>
            <a:endParaRPr lang="en-US" sz="2100" dirty="0"/>
          </a:p>
        </p:txBody>
      </p:sp>
      <p:sp>
        <p:nvSpPr>
          <p:cNvPr id="18" name="Text 14"/>
          <p:cNvSpPr/>
          <p:nvPr/>
        </p:nvSpPr>
        <p:spPr>
          <a:xfrm>
            <a:off x="6190488" y="5961888"/>
            <a:ext cx="25694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cycle SQL exec</a:t>
            </a:r>
            <a:endParaRPr lang="en-US" sz="760" dirty="0"/>
          </a:p>
        </p:txBody>
      </p:sp>
      <p:sp>
        <p:nvSpPr>
          <p:cNvPr id="19" name="Shape 15"/>
          <p:cNvSpPr/>
          <p:nvPr/>
        </p:nvSpPr>
        <p:spPr>
          <a:xfrm>
            <a:off x="8869680" y="5724144"/>
            <a:ext cx="0" cy="27432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6"/>
          <p:cNvSpPr/>
          <p:nvPr/>
        </p:nvSpPr>
        <p:spPr>
          <a:xfrm>
            <a:off x="8979408" y="5715000"/>
            <a:ext cx="25694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2.722 ms</a:t>
            </a:r>
            <a:endParaRPr lang="en-US" sz="2100" dirty="0"/>
          </a:p>
        </p:txBody>
      </p:sp>
      <p:sp>
        <p:nvSpPr>
          <p:cNvPr id="21" name="Text 17"/>
          <p:cNvSpPr/>
          <p:nvPr/>
        </p:nvSpPr>
        <p:spPr>
          <a:xfrm>
            <a:off x="8979408" y="5961888"/>
            <a:ext cx="25694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cycle Cypher exec</a:t>
            </a:r>
            <a:endParaRPr lang="en-US" sz="760" dirty="0"/>
          </a:p>
        </p:txBody>
      </p:sp>
      <p:sp>
        <p:nvSpPr>
          <p:cNvPr id="22" name="Shape 18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9"/>
          <p:cNvSpPr/>
          <p:nvPr/>
        </p:nvSpPr>
        <p:spPr>
          <a:xfrm>
            <a:off x="530352" y="6473952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docs/demo/setting_workflow.png; docs/reports/Phase2_MidtermReport_ChanyoungKim_YogitaMutyala.pdf; 20 warm-cache benchmark runs.</a:t>
            </a:r>
            <a:endParaRPr lang="en-US" sz="650" dirty="0"/>
          </a:p>
        </p:txBody>
      </p:sp>
      <p:sp>
        <p:nvSpPr>
          <p:cNvPr id="24" name="Text 20"/>
          <p:cNvSpPr/>
          <p:nvPr/>
        </p:nvSpPr>
        <p:spPr>
          <a:xfrm>
            <a:off x="10835640" y="645566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382</TotalTime>
  <Words>7889</Words>
  <Application>Microsoft Macintosh PowerPoint</Application>
  <PresentationFormat>와이드스크린</PresentationFormat>
  <Paragraphs>772</Paragraphs>
  <Slides>17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4" baseType="lpstr">
      <vt:lpstr>-apple-system</vt:lpstr>
      <vt:lpstr>ui-monospace</vt:lpstr>
      <vt:lpstr>Arial</vt:lpstr>
      <vt:lpstr>Consolas</vt:lpstr>
      <vt:lpstr>Courier New</vt:lpstr>
      <vt:lpstr>Times New Roman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USC DSCI 551 Course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Hybrid-AML Demo Deck</dc:title>
  <dc:subject>Hybrid-AML live demo deck</dc:subject>
  <dc:creator>Chanyoung Kim</dc:creator>
  <cp:lastModifiedBy>Chanyoung Kim</cp:lastModifiedBy>
  <cp:revision>57</cp:revision>
  <dcterms:created xsi:type="dcterms:W3CDTF">2026-04-19T00:49:42Z</dcterms:created>
  <dcterms:modified xsi:type="dcterms:W3CDTF">2026-04-20T00:20:41Z</dcterms:modified>
</cp:coreProperties>
</file>